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73" r:id="rId4"/>
    <p:sldId id="275" r:id="rId5"/>
    <p:sldId id="276" r:id="rId6"/>
    <p:sldId id="277" r:id="rId7"/>
    <p:sldId id="279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</p:sldIdLst>
  <p:sldSz cx="13716000" cy="10287000"/>
  <p:notesSz cx="6858000" cy="9144000"/>
  <p:embeddedFontLst>
    <p:embeddedFont>
      <p:font typeface="JASO Sans" panose="020B0600000101010101" charset="-127"/>
      <p:regular r:id="rId20"/>
    </p:embeddedFont>
    <p:embeddedFont>
      <p:font typeface="JASO Sans Bold" panose="020B0600000101010101" charset="-127"/>
      <p:regular r:id="rId21"/>
    </p:embeddedFont>
    <p:embeddedFont>
      <p:font typeface="THELuxGoB" panose="020B0600000101010101" charset="-127"/>
      <p:regular r:id="rId22"/>
    </p:embeddedFont>
    <p:embeddedFont>
      <p:font typeface="둥근펜 Bold" panose="020B0600000101010101" charset="-127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Poppins Bold" panose="020B0600000101010101" charset="0"/>
      <p:regular r:id="rId28"/>
    </p:embeddedFont>
    <p:embeddedFont>
      <p:font typeface="Poppins Medium" panose="020B0600000101010101" charset="0"/>
      <p:regular r:id="rId29"/>
    </p:embeddedFont>
    <p:embeddedFont>
      <p:font typeface="Poppins Semi-Bold" panose="020B0600000101010101" charset="0"/>
      <p:regular r:id="rId30"/>
    </p:embeddedFont>
    <p:embeddedFont>
      <p:font typeface="Segoe UI Semibold" panose="020B0702040204020203" pitchFamily="34" charset="0"/>
      <p:bold r:id="rId31"/>
      <p:boldItalic r:id="rId32"/>
    </p:embeddedFont>
    <p:embeddedFont>
      <p:font typeface="Segoe UI Semilight" panose="020B0402040204020203" pitchFamily="34" charset="0"/>
      <p:regular r:id="rId33"/>
      <p:italic r:id="rId34"/>
    </p:embeddedFont>
    <p:embeddedFont>
      <p:font typeface="맑은 고딕" panose="020B0503020000020004" pitchFamily="50" charset="-127"/>
      <p:regular r:id="rId35"/>
      <p:bold r:id="rId36"/>
    </p:embeddedFont>
    <p:embeddedFont>
      <p:font typeface="한컴산뜻돋움" panose="02000000000000000000" pitchFamily="2" charset="-127"/>
      <p:regular r:id="rId37"/>
      <p:bold r:id="rId38"/>
    </p:embeddedFont>
    <p:embeddedFont>
      <p:font typeface="함초롬돋움" panose="020B0604000101010101" pitchFamily="50" charset="-127"/>
      <p:regular r:id="rId39"/>
      <p:bold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C88A"/>
    <a:srgbClr val="1AC059"/>
    <a:srgbClr val="84E49B"/>
    <a:srgbClr val="F6FFF3"/>
    <a:srgbClr val="E3EBE3"/>
    <a:srgbClr val="F4F8F9"/>
    <a:srgbClr val="E3E3E3"/>
    <a:srgbClr val="FDFD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196" autoAdjust="0"/>
  </p:normalViewPr>
  <p:slideViewPr>
    <p:cSldViewPr>
      <p:cViewPr varScale="1">
        <p:scale>
          <a:sx n="57" d="100"/>
          <a:sy n="57" d="100"/>
        </p:scale>
        <p:origin x="1378" y="62"/>
      </p:cViewPr>
      <p:guideLst>
        <p:guide orient="horz" pos="216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240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C8764-D302-4A7F-8C88-3A4B6A0CA39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324CD-EB93-40ED-B1C6-D100A5E81A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170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64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954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97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475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515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469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534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266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82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24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894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773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015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945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324CD-EB93-40ED-B1C6-D100A5E81A9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50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6356351"/>
            <a:ext cx="16002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4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815052"/>
          </a:xfrm>
          <a:prstGeom prst="rect">
            <a:avLst/>
          </a:prstGeom>
          <a:solidFill>
            <a:srgbClr val="FDFDFD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304799" y="9052584"/>
            <a:ext cx="13130981" cy="5308224"/>
            <a:chOff x="0" y="0"/>
            <a:chExt cx="23101907" cy="93420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85596" cy="9342057"/>
            </a:xfrm>
            <a:custGeom>
              <a:avLst/>
              <a:gdLst/>
              <a:ahLst/>
              <a:cxnLst/>
              <a:rect l="l" t="t" r="r" b="b"/>
              <a:pathLst>
                <a:path w="12885596" h="9342057">
                  <a:moveTo>
                    <a:pt x="0" y="0"/>
                  </a:moveTo>
                  <a:lnTo>
                    <a:pt x="12885596" y="0"/>
                  </a:lnTo>
                  <a:lnTo>
                    <a:pt x="12885596" y="9342057"/>
                  </a:lnTo>
                  <a:lnTo>
                    <a:pt x="0" y="9342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</p:sp>
        <p:sp>
          <p:nvSpPr>
            <p:cNvPr id="14" name="Freeform 14"/>
            <p:cNvSpPr/>
            <p:nvPr/>
          </p:nvSpPr>
          <p:spPr>
            <a:xfrm>
              <a:off x="4130369" y="807918"/>
              <a:ext cx="18971538" cy="4114800"/>
            </a:xfrm>
            <a:custGeom>
              <a:avLst/>
              <a:gdLst/>
              <a:ahLst/>
              <a:cxnLst/>
              <a:rect l="l" t="t" r="r" b="b"/>
              <a:pathLst>
                <a:path w="3747465" h="812800">
                  <a:moveTo>
                    <a:pt x="11970" y="0"/>
                  </a:moveTo>
                  <a:lnTo>
                    <a:pt x="3735494" y="0"/>
                  </a:lnTo>
                  <a:cubicBezTo>
                    <a:pt x="3742105" y="0"/>
                    <a:pt x="3747465" y="5359"/>
                    <a:pt x="3747465" y="11970"/>
                  </a:cubicBezTo>
                  <a:lnTo>
                    <a:pt x="3747465" y="800830"/>
                  </a:lnTo>
                  <a:cubicBezTo>
                    <a:pt x="3747465" y="804004"/>
                    <a:pt x="3746204" y="807049"/>
                    <a:pt x="3743959" y="809294"/>
                  </a:cubicBezTo>
                  <a:cubicBezTo>
                    <a:pt x="3741714" y="811539"/>
                    <a:pt x="3738669" y="812800"/>
                    <a:pt x="3735494" y="812800"/>
                  </a:cubicBezTo>
                  <a:lnTo>
                    <a:pt x="11970" y="812800"/>
                  </a:lnTo>
                  <a:cubicBezTo>
                    <a:pt x="5359" y="812800"/>
                    <a:pt x="0" y="807441"/>
                    <a:pt x="0" y="800830"/>
                  </a:cubicBezTo>
                  <a:lnTo>
                    <a:pt x="0" y="11970"/>
                  </a:lnTo>
                  <a:cubicBezTo>
                    <a:pt x="0" y="5359"/>
                    <a:pt x="5359" y="0"/>
                    <a:pt x="11970" y="0"/>
                  </a:cubicBezTo>
                  <a:close/>
                </a:path>
              </a:pathLst>
            </a:custGeom>
            <a:solidFill>
              <a:srgbClr val="5CC88A"/>
            </a:solidFill>
          </p:spPr>
        </p:sp>
      </p:grp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Box 19"/>
          <p:cNvSpPr txBox="1"/>
          <p:nvPr/>
        </p:nvSpPr>
        <p:spPr>
          <a:xfrm rot="-18144">
            <a:off x="1915336" y="4356252"/>
            <a:ext cx="11077593" cy="1044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64"/>
              </a:lnSpc>
              <a:spcBef>
                <a:spcPct val="0"/>
              </a:spcBef>
            </a:pPr>
            <a:r>
              <a:rPr lang="en-US" altLang="ko-KR" sz="6400" b="1" spc="-178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PLC </a:t>
            </a:r>
            <a:r>
              <a:rPr lang="ko-KR" altLang="en-US" sz="6400" b="1" spc="-178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기반 지능형 자동화 시스템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2782BF7-0B36-4EAC-B3F2-5D46DF6E7269}"/>
              </a:ext>
            </a:extLst>
          </p:cNvPr>
          <p:cNvGrpSpPr/>
          <p:nvPr/>
        </p:nvGrpSpPr>
        <p:grpSpPr>
          <a:xfrm>
            <a:off x="3639502" y="6477961"/>
            <a:ext cx="6436995" cy="472440"/>
            <a:chOff x="6743700" y="10896603"/>
            <a:chExt cx="8582660" cy="629920"/>
          </a:xfrm>
        </p:grpSpPr>
        <p:pic>
          <p:nvPicPr>
            <p:cNvPr id="26" name="Picture 6">
              <a:extLst>
                <a:ext uri="{FF2B5EF4-FFF2-40B4-BE49-F238E27FC236}">
                  <a16:creationId xmlns:a16="http://schemas.microsoft.com/office/drawing/2014/main" id="{44D031F9-E120-4B8A-8109-FC53B561D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44000" y="10907268"/>
              <a:ext cx="6019800" cy="614172"/>
            </a:xfrm>
            <a:prstGeom prst="rect">
              <a:avLst/>
            </a:prstGeom>
          </p:spPr>
        </p:pic>
        <p:pic>
          <p:nvPicPr>
            <p:cNvPr id="27" name="Picture 7">
              <a:extLst>
                <a:ext uri="{FF2B5EF4-FFF2-40B4-BE49-F238E27FC236}">
                  <a16:creationId xmlns:a16="http://schemas.microsoft.com/office/drawing/2014/main" id="{F2203FF7-011E-4B16-A01A-653BCF545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colorTemperature colorTemp="8995"/>
                      </a14:imgEffect>
                      <a14:imgEffect>
                        <a14:saturation sat="137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696200" y="10896603"/>
              <a:ext cx="1981200" cy="629920"/>
            </a:xfrm>
            <a:prstGeom prst="rect">
              <a:avLst/>
            </a:prstGeom>
          </p:spPr>
        </p:pic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62890C0E-C0B5-4A65-BA84-79E754092114}"/>
                </a:ext>
              </a:extLst>
            </p:cNvPr>
            <p:cNvSpPr txBox="1"/>
            <p:nvPr/>
          </p:nvSpPr>
          <p:spPr>
            <a:xfrm>
              <a:off x="6743700" y="10948879"/>
              <a:ext cx="3886200" cy="546100"/>
            </a:xfrm>
            <a:prstGeom prst="rect">
              <a:avLst/>
            </a:prstGeom>
          </p:spPr>
          <p:txBody>
            <a:bodyPr lIns="0" tIns="29118" rIns="0" bIns="29118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93" b="1" spc="-75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THELuxGoB"/>
                </a:rPr>
                <a:t>최준호</a:t>
              </a:r>
              <a:endParaRPr lang="en-US" sz="2293" b="1" spc="-75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HELuxGoB"/>
              </a:endParaRPr>
            </a:p>
          </p:txBody>
        </p:sp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F05FAA3F-2B28-46D3-ACEF-3CC867C3EBB8}"/>
                </a:ext>
              </a:extLst>
            </p:cNvPr>
            <p:cNvSpPr txBox="1"/>
            <p:nvPr/>
          </p:nvSpPr>
          <p:spPr>
            <a:xfrm>
              <a:off x="9829800" y="10907268"/>
              <a:ext cx="5496560" cy="546100"/>
            </a:xfrm>
            <a:prstGeom prst="rect">
              <a:avLst/>
            </a:prstGeom>
          </p:spPr>
          <p:txBody>
            <a:bodyPr lIns="0" tIns="29118" rIns="0" bIns="29118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-US" sz="2293" spc="-75" dirty="0">
                  <a:solidFill>
                    <a:srgbClr val="595959"/>
                  </a:solidFill>
                  <a:latin typeface="Segoe UI Semilight" panose="020B0402040204020203" pitchFamily="34" charset="0"/>
                  <a:ea typeface="맑은 고딕" panose="020B0503020000020004" pitchFamily="50" charset="-127"/>
                  <a:cs typeface="Segoe UI Semilight" panose="020B0402040204020203" pitchFamily="34" charset="0"/>
                </a:rPr>
                <a:t>gammastellapasta@gmail.com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668B37A-8487-4EC6-880F-A4FFFD1DECB1}"/>
              </a:ext>
            </a:extLst>
          </p:cNvPr>
          <p:cNvGrpSpPr/>
          <p:nvPr/>
        </p:nvGrpSpPr>
        <p:grpSpPr>
          <a:xfrm>
            <a:off x="10378426" y="7873495"/>
            <a:ext cx="2804173" cy="1557236"/>
            <a:chOff x="4693913" y="2549540"/>
            <a:chExt cx="2804173" cy="1557236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BF06891-38A8-4018-B319-89033A98FA74}"/>
                </a:ext>
              </a:extLst>
            </p:cNvPr>
            <p:cNvSpPr/>
            <p:nvPr/>
          </p:nvSpPr>
          <p:spPr>
            <a:xfrm>
              <a:off x="4693913" y="2549540"/>
              <a:ext cx="2804173" cy="15572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7" name="TextBox 24">
              <a:extLst>
                <a:ext uri="{FF2B5EF4-FFF2-40B4-BE49-F238E27FC236}">
                  <a16:creationId xmlns:a16="http://schemas.microsoft.com/office/drawing/2014/main" id="{360F6C8B-160E-45D3-8D2F-E53D33836206}"/>
                </a:ext>
              </a:extLst>
            </p:cNvPr>
            <p:cNvSpPr txBox="1"/>
            <p:nvPr/>
          </p:nvSpPr>
          <p:spPr>
            <a:xfrm>
              <a:off x="5008885" y="2854340"/>
              <a:ext cx="1828800" cy="3913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3200" b="1" spc="-133" dirty="0">
                  <a:ln w="25400">
                    <a:noFill/>
                  </a:ln>
                  <a:solidFill>
                    <a:srgbClr val="7030A0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</a:rPr>
                <a:t>최준호</a:t>
              </a:r>
              <a:endParaRPr lang="en-US" sz="3200" b="1" spc="-133" dirty="0">
                <a:ln w="25400">
                  <a:noFill/>
                </a:ln>
                <a:solidFill>
                  <a:srgbClr val="7030A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endParaRPr>
            </a:p>
          </p:txBody>
        </p:sp>
        <p:pic>
          <p:nvPicPr>
            <p:cNvPr id="18" name="Picture 22">
              <a:extLst>
                <a:ext uri="{FF2B5EF4-FFF2-40B4-BE49-F238E27FC236}">
                  <a16:creationId xmlns:a16="http://schemas.microsoft.com/office/drawing/2014/main" id="{EBAB153A-BF51-475A-8286-73A16C875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65214" y="3271531"/>
              <a:ext cx="2682071" cy="757428"/>
            </a:xfrm>
            <a:prstGeom prst="rect">
              <a:avLst/>
            </a:prstGeom>
          </p:spPr>
        </p:pic>
        <p:pic>
          <p:nvPicPr>
            <p:cNvPr id="20" name="Picture 23">
              <a:extLst>
                <a:ext uri="{FF2B5EF4-FFF2-40B4-BE49-F238E27FC236}">
                  <a16:creationId xmlns:a16="http://schemas.microsoft.com/office/drawing/2014/main" id="{93EB0F90-AA6E-46FE-948B-D79240E5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18840000">
              <a:off x="4741168" y="3055123"/>
              <a:ext cx="733383" cy="817541"/>
            </a:xfrm>
            <a:prstGeom prst="rect">
              <a:avLst/>
            </a:prstGeom>
          </p:spPr>
        </p:pic>
        <p:sp>
          <p:nvSpPr>
            <p:cNvPr id="21" name="TextBox 24">
              <a:extLst>
                <a:ext uri="{FF2B5EF4-FFF2-40B4-BE49-F238E27FC236}">
                  <a16:creationId xmlns:a16="http://schemas.microsoft.com/office/drawing/2014/main" id="{438A5555-33C4-418B-87AC-4AB7152EE50F}"/>
                </a:ext>
              </a:extLst>
            </p:cNvPr>
            <p:cNvSpPr txBox="1"/>
            <p:nvPr/>
          </p:nvSpPr>
          <p:spPr>
            <a:xfrm>
              <a:off x="5526876" y="3405304"/>
              <a:ext cx="1873843" cy="35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9600"/>
                </a:lnSpc>
              </a:pPr>
              <a:r>
                <a:rPr lang="ko-KR" altLang="en-US" sz="1600" spc="-133" dirty="0">
                  <a:solidFill>
                    <a:srgbClr val="7A3EB5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</a:rPr>
                <a:t>서울기술교육센터</a:t>
              </a:r>
              <a:endParaRPr lang="en-US" altLang="ko-KR" sz="1600" spc="-133" dirty="0">
                <a:solidFill>
                  <a:srgbClr val="7A3EB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endParaRPr>
            </a:p>
            <a:p>
              <a:pPr lvl="0">
                <a:lnSpc>
                  <a:spcPct val="99600"/>
                </a:lnSpc>
              </a:pPr>
              <a:r>
                <a:rPr lang="en-US" altLang="ko-KR" sz="1600" spc="-133" dirty="0">
                  <a:solidFill>
                    <a:srgbClr val="7A3EB5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</a:rPr>
                <a:t>AI</a:t>
              </a:r>
              <a:r>
                <a:rPr lang="ko-KR" altLang="en-US" sz="1600" spc="-133" dirty="0">
                  <a:solidFill>
                    <a:srgbClr val="7A3EB5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</a:rPr>
                <a:t>융합 로봇</a:t>
              </a:r>
              <a:r>
                <a:rPr lang="en-US" altLang="ko-KR" sz="1600" spc="-133" dirty="0">
                  <a:solidFill>
                    <a:srgbClr val="7A3EB5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</a:rPr>
                <a:t>SW </a:t>
              </a:r>
              <a:r>
                <a:rPr lang="ko-KR" altLang="en-US" sz="1600" spc="-133" dirty="0">
                  <a:solidFill>
                    <a:srgbClr val="7A3EB5"/>
                  </a:solidFill>
                  <a:latin typeface="한컴산뜻돋움" panose="02000000000000000000" pitchFamily="2" charset="-127"/>
                  <a:ea typeface="한컴산뜻돋움" panose="02000000000000000000" pitchFamily="2" charset="-127"/>
                </a:rPr>
                <a:t>개발자</a:t>
              </a:r>
              <a:endParaRPr lang="en-US" altLang="ko-KR" sz="1600" spc="-133" dirty="0">
                <a:solidFill>
                  <a:srgbClr val="7A3EB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E324D0E-252F-494D-BDEC-AE29356A09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43" t="10005" r="6607" b="17036"/>
            <a:stretch/>
          </p:blipFill>
          <p:spPr>
            <a:xfrm>
              <a:off x="4765214" y="3122845"/>
              <a:ext cx="589107" cy="612309"/>
            </a:xfrm>
            <a:prstGeom prst="flowChartConnector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rgbClr val="FDFDFD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D6E22AFE-996A-4894-8340-7A64A9F1FE14}"/>
              </a:ext>
            </a:extLst>
          </p:cNvPr>
          <p:cNvSpPr txBox="1"/>
          <p:nvPr/>
        </p:nvSpPr>
        <p:spPr>
          <a:xfrm rot="-18144">
            <a:off x="1665261" y="1660148"/>
            <a:ext cx="2652810" cy="8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56"/>
              </a:lnSpc>
            </a:pPr>
            <a:r>
              <a:rPr lang="en-US" sz="6428" b="1" spc="-199" dirty="0">
                <a:solidFill>
                  <a:srgbClr val="5CC88A"/>
                </a:solidFill>
                <a:latin typeface="Poppins Bold"/>
                <a:ea typeface="Poppins Bold"/>
                <a:cs typeface="Poppins Bold"/>
                <a:sym typeface="Poppins Bold"/>
              </a:rPr>
              <a:t>INDEX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C35FBBC3-0A19-4554-BFBD-C217DF6B1CC6}"/>
              </a:ext>
            </a:extLst>
          </p:cNvPr>
          <p:cNvSpPr txBox="1"/>
          <p:nvPr/>
        </p:nvSpPr>
        <p:spPr>
          <a:xfrm rot="-18144">
            <a:off x="1684470" y="2536867"/>
            <a:ext cx="2789149" cy="375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9"/>
              </a:lnSpc>
              <a:spcBef>
                <a:spcPct val="0"/>
              </a:spcBef>
            </a:pPr>
            <a:r>
              <a:rPr lang="en-US" sz="2763" b="1" spc="-127" dirty="0" err="1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목차</a:t>
            </a:r>
            <a:endParaRPr lang="en-US" sz="2763" b="1" spc="-127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A90DDF32-19BD-4F88-866F-4B0E92D960F6}"/>
              </a:ext>
            </a:extLst>
          </p:cNvPr>
          <p:cNvSpPr txBox="1"/>
          <p:nvPr/>
        </p:nvSpPr>
        <p:spPr>
          <a:xfrm>
            <a:off x="6518122" y="1135413"/>
            <a:ext cx="3262511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53"/>
              </a:lnSpc>
            </a:pPr>
            <a:r>
              <a:rPr lang="ko-KR" altLang="en-US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 개요</a:t>
            </a:r>
            <a:endParaRPr lang="en-US" sz="2524" b="1" spc="-91" dirty="0">
              <a:solidFill>
                <a:srgbClr val="4D4D4D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3" name="TextBox 18">
            <a:extLst>
              <a:ext uri="{FF2B5EF4-FFF2-40B4-BE49-F238E27FC236}">
                <a16:creationId xmlns:a16="http://schemas.microsoft.com/office/drawing/2014/main" id="{91B213CE-B976-41BE-887A-4D601F4EDEA4}"/>
              </a:ext>
            </a:extLst>
          </p:cNvPr>
          <p:cNvSpPr txBox="1"/>
          <p:nvPr/>
        </p:nvSpPr>
        <p:spPr>
          <a:xfrm>
            <a:off x="5913964" y="1241393"/>
            <a:ext cx="604157" cy="16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lang="en-US" sz="1422" b="1" spc="24">
                <a:solidFill>
                  <a:srgbClr val="5CC8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4A2C6613-B0F9-4BC2-A5DE-806122DB9B7E}"/>
              </a:ext>
            </a:extLst>
          </p:cNvPr>
          <p:cNvSpPr txBox="1"/>
          <p:nvPr/>
        </p:nvSpPr>
        <p:spPr>
          <a:xfrm>
            <a:off x="6518122" y="1964597"/>
            <a:ext cx="3262511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53"/>
              </a:lnSpc>
            </a:pPr>
            <a:r>
              <a:rPr lang="ko-KR" altLang="en-US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전체 프로세스 흐름도</a:t>
            </a:r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F869277E-F60C-47E0-9AC9-5389333EAD58}"/>
              </a:ext>
            </a:extLst>
          </p:cNvPr>
          <p:cNvSpPr txBox="1"/>
          <p:nvPr/>
        </p:nvSpPr>
        <p:spPr>
          <a:xfrm>
            <a:off x="5913964" y="2070578"/>
            <a:ext cx="604157" cy="16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lang="en-US" sz="1422" b="1" spc="24">
                <a:solidFill>
                  <a:srgbClr val="5CC8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</a:p>
        </p:txBody>
      </p:sp>
      <p:sp>
        <p:nvSpPr>
          <p:cNvPr id="37" name="TextBox 22">
            <a:extLst>
              <a:ext uri="{FF2B5EF4-FFF2-40B4-BE49-F238E27FC236}">
                <a16:creationId xmlns:a16="http://schemas.microsoft.com/office/drawing/2014/main" id="{3653B4B1-BE3F-4574-947B-97BDDFF491FE}"/>
              </a:ext>
            </a:extLst>
          </p:cNvPr>
          <p:cNvSpPr txBox="1"/>
          <p:nvPr/>
        </p:nvSpPr>
        <p:spPr>
          <a:xfrm>
            <a:off x="6518122" y="2793782"/>
            <a:ext cx="4242377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53"/>
              </a:lnSpc>
            </a:pPr>
            <a:r>
              <a:rPr lang="ko-KR" altLang="en-US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설계의 배경 및 필요성</a:t>
            </a:r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C0BDF3BE-438C-4B0E-896F-888B953C560D}"/>
              </a:ext>
            </a:extLst>
          </p:cNvPr>
          <p:cNvSpPr txBox="1"/>
          <p:nvPr/>
        </p:nvSpPr>
        <p:spPr>
          <a:xfrm>
            <a:off x="5913964" y="2899763"/>
            <a:ext cx="604157" cy="16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lang="en-US" sz="1422" b="1" spc="24">
                <a:solidFill>
                  <a:srgbClr val="5CC8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</a:p>
        </p:txBody>
      </p:sp>
      <p:sp>
        <p:nvSpPr>
          <p:cNvPr id="40" name="TextBox 25">
            <a:extLst>
              <a:ext uri="{FF2B5EF4-FFF2-40B4-BE49-F238E27FC236}">
                <a16:creationId xmlns:a16="http://schemas.microsoft.com/office/drawing/2014/main" id="{D51AF85D-51C6-4B28-9329-24D227AFED09}"/>
              </a:ext>
            </a:extLst>
          </p:cNvPr>
          <p:cNvSpPr txBox="1"/>
          <p:nvPr/>
        </p:nvSpPr>
        <p:spPr>
          <a:xfrm>
            <a:off x="6518122" y="3622966"/>
            <a:ext cx="3262511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53"/>
              </a:lnSpc>
            </a:pPr>
            <a:r>
              <a:rPr lang="ko-KR" altLang="en-US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메모리 주소 할당</a:t>
            </a:r>
          </a:p>
        </p:txBody>
      </p:sp>
      <p:sp>
        <p:nvSpPr>
          <p:cNvPr id="42" name="TextBox 27">
            <a:extLst>
              <a:ext uri="{FF2B5EF4-FFF2-40B4-BE49-F238E27FC236}">
                <a16:creationId xmlns:a16="http://schemas.microsoft.com/office/drawing/2014/main" id="{6D48082E-044E-4E52-9BB8-22D4A29330C8}"/>
              </a:ext>
            </a:extLst>
          </p:cNvPr>
          <p:cNvSpPr txBox="1"/>
          <p:nvPr/>
        </p:nvSpPr>
        <p:spPr>
          <a:xfrm>
            <a:off x="5913964" y="3728947"/>
            <a:ext cx="604157" cy="16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lang="en-US" sz="1422" b="1" spc="24">
                <a:solidFill>
                  <a:srgbClr val="5CC8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04</a:t>
            </a:r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5FA786F1-5482-43AD-985B-5DF82DCB9645}"/>
              </a:ext>
            </a:extLst>
          </p:cNvPr>
          <p:cNvSpPr txBox="1"/>
          <p:nvPr/>
        </p:nvSpPr>
        <p:spPr>
          <a:xfrm>
            <a:off x="6518122" y="4452150"/>
            <a:ext cx="3262511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53"/>
              </a:lnSpc>
            </a:pPr>
            <a:r>
              <a:rPr lang="ko-KR" altLang="en-US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설계 의도 및 기대 효과</a:t>
            </a:r>
          </a:p>
        </p:txBody>
      </p:sp>
      <p:sp>
        <p:nvSpPr>
          <p:cNvPr id="45" name="TextBox 30">
            <a:extLst>
              <a:ext uri="{FF2B5EF4-FFF2-40B4-BE49-F238E27FC236}">
                <a16:creationId xmlns:a16="http://schemas.microsoft.com/office/drawing/2014/main" id="{EB7D5D7E-6ED6-40ED-BA88-BFAE239C526B}"/>
              </a:ext>
            </a:extLst>
          </p:cNvPr>
          <p:cNvSpPr txBox="1"/>
          <p:nvPr/>
        </p:nvSpPr>
        <p:spPr>
          <a:xfrm>
            <a:off x="5913964" y="4558131"/>
            <a:ext cx="604157" cy="16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lang="en-US" sz="1422" b="1" spc="24">
                <a:solidFill>
                  <a:srgbClr val="5CC8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05</a:t>
            </a:r>
          </a:p>
        </p:txBody>
      </p:sp>
      <p:sp>
        <p:nvSpPr>
          <p:cNvPr id="46" name="TextBox 31">
            <a:extLst>
              <a:ext uri="{FF2B5EF4-FFF2-40B4-BE49-F238E27FC236}">
                <a16:creationId xmlns:a16="http://schemas.microsoft.com/office/drawing/2014/main" id="{492DDF9D-9747-4EF1-B4A2-65B28E907102}"/>
              </a:ext>
            </a:extLst>
          </p:cNvPr>
          <p:cNvSpPr txBox="1"/>
          <p:nvPr/>
        </p:nvSpPr>
        <p:spPr>
          <a:xfrm>
            <a:off x="6518122" y="5281335"/>
            <a:ext cx="3262511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53"/>
              </a:lnSpc>
            </a:pPr>
            <a:r>
              <a:rPr lang="ko-KR" altLang="en-US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사용자 지정 입고</a:t>
            </a:r>
            <a:endParaRPr lang="en-US" sz="2524" b="1" spc="-91" dirty="0">
              <a:solidFill>
                <a:srgbClr val="4D4D4D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8" name="TextBox 33">
            <a:extLst>
              <a:ext uri="{FF2B5EF4-FFF2-40B4-BE49-F238E27FC236}">
                <a16:creationId xmlns:a16="http://schemas.microsoft.com/office/drawing/2014/main" id="{9F9889FA-999B-45C5-940B-AF06C91F904F}"/>
              </a:ext>
            </a:extLst>
          </p:cNvPr>
          <p:cNvSpPr txBox="1"/>
          <p:nvPr/>
        </p:nvSpPr>
        <p:spPr>
          <a:xfrm>
            <a:off x="5913964" y="5387316"/>
            <a:ext cx="604157" cy="16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lang="en-US" sz="1422" b="1" spc="24" dirty="0">
                <a:solidFill>
                  <a:srgbClr val="5CC8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06</a:t>
            </a:r>
          </a:p>
        </p:txBody>
      </p:sp>
      <p:sp>
        <p:nvSpPr>
          <p:cNvPr id="49" name="AutoShape 34">
            <a:extLst>
              <a:ext uri="{FF2B5EF4-FFF2-40B4-BE49-F238E27FC236}">
                <a16:creationId xmlns:a16="http://schemas.microsoft.com/office/drawing/2014/main" id="{FBFF88F1-BE9C-43E6-82D9-551AF7CD7524}"/>
              </a:ext>
            </a:extLst>
          </p:cNvPr>
          <p:cNvSpPr/>
          <p:nvPr/>
        </p:nvSpPr>
        <p:spPr>
          <a:xfrm flipV="1">
            <a:off x="5334000" y="1093216"/>
            <a:ext cx="0" cy="8281923"/>
          </a:xfrm>
          <a:prstGeom prst="line">
            <a:avLst/>
          </a:prstGeom>
          <a:ln w="2540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31">
            <a:extLst>
              <a:ext uri="{FF2B5EF4-FFF2-40B4-BE49-F238E27FC236}">
                <a16:creationId xmlns:a16="http://schemas.microsoft.com/office/drawing/2014/main" id="{D9A820B3-C742-4EA4-A057-8BA54BA38097}"/>
              </a:ext>
            </a:extLst>
          </p:cNvPr>
          <p:cNvSpPr txBox="1"/>
          <p:nvPr/>
        </p:nvSpPr>
        <p:spPr>
          <a:xfrm>
            <a:off x="6518121" y="6040676"/>
            <a:ext cx="3262511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53"/>
              </a:lnSpc>
            </a:pPr>
            <a:r>
              <a:rPr lang="ko-KR" altLang="en-US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지능형 적재</a:t>
            </a:r>
            <a:endParaRPr lang="en-US" sz="2524" b="1" spc="-91" dirty="0">
              <a:solidFill>
                <a:srgbClr val="4D4D4D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7" name="TextBox 33">
            <a:extLst>
              <a:ext uri="{FF2B5EF4-FFF2-40B4-BE49-F238E27FC236}">
                <a16:creationId xmlns:a16="http://schemas.microsoft.com/office/drawing/2014/main" id="{716EAAF5-63F7-4F9D-A9F6-099733E37705}"/>
              </a:ext>
            </a:extLst>
          </p:cNvPr>
          <p:cNvSpPr txBox="1"/>
          <p:nvPr/>
        </p:nvSpPr>
        <p:spPr>
          <a:xfrm>
            <a:off x="5913963" y="6146657"/>
            <a:ext cx="604157" cy="16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lang="en-US" sz="1422" b="1" spc="24" dirty="0">
                <a:solidFill>
                  <a:srgbClr val="5CC8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07</a:t>
            </a:r>
          </a:p>
        </p:txBody>
      </p:sp>
      <p:sp>
        <p:nvSpPr>
          <p:cNvPr id="28" name="TextBox 31">
            <a:extLst>
              <a:ext uri="{FF2B5EF4-FFF2-40B4-BE49-F238E27FC236}">
                <a16:creationId xmlns:a16="http://schemas.microsoft.com/office/drawing/2014/main" id="{3C35CEA5-FA0F-4596-B864-C453EF3776F1}"/>
              </a:ext>
            </a:extLst>
          </p:cNvPr>
          <p:cNvSpPr txBox="1"/>
          <p:nvPr/>
        </p:nvSpPr>
        <p:spPr>
          <a:xfrm>
            <a:off x="6518121" y="6799535"/>
            <a:ext cx="3262511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53"/>
              </a:lnSpc>
            </a:pPr>
            <a:r>
              <a:rPr lang="ko-KR" altLang="en-US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지능형 배출</a:t>
            </a:r>
            <a:endParaRPr lang="en-US" sz="2524" b="1" spc="-91" dirty="0">
              <a:solidFill>
                <a:srgbClr val="4D4D4D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9" name="TextBox 33">
            <a:extLst>
              <a:ext uri="{FF2B5EF4-FFF2-40B4-BE49-F238E27FC236}">
                <a16:creationId xmlns:a16="http://schemas.microsoft.com/office/drawing/2014/main" id="{4C67E95A-4AA1-4D4D-A1B9-FE3FBED788B1}"/>
              </a:ext>
            </a:extLst>
          </p:cNvPr>
          <p:cNvSpPr txBox="1"/>
          <p:nvPr/>
        </p:nvSpPr>
        <p:spPr>
          <a:xfrm>
            <a:off x="5913963" y="6905516"/>
            <a:ext cx="604157" cy="16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lang="en-US" sz="1422" b="1" spc="24" dirty="0">
                <a:solidFill>
                  <a:srgbClr val="5CC8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9B6E26-F003-4488-8198-D170EAC3A8F7}"/>
              </a:ext>
            </a:extLst>
          </p:cNvPr>
          <p:cNvSpPr txBox="1"/>
          <p:nvPr/>
        </p:nvSpPr>
        <p:spPr>
          <a:xfrm>
            <a:off x="6518121" y="7556492"/>
            <a:ext cx="3262511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53"/>
              </a:lnSpc>
            </a:pPr>
            <a:r>
              <a:rPr lang="ko-KR" altLang="en-US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공정 데이터 분석</a:t>
            </a:r>
            <a:endParaRPr lang="en-US" sz="2524" b="1" spc="-91" dirty="0">
              <a:solidFill>
                <a:srgbClr val="4D4D4D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C27BAFE6-9AFC-4582-8279-F693137CCC0D}"/>
              </a:ext>
            </a:extLst>
          </p:cNvPr>
          <p:cNvSpPr txBox="1"/>
          <p:nvPr/>
        </p:nvSpPr>
        <p:spPr>
          <a:xfrm>
            <a:off x="5913963" y="7662473"/>
            <a:ext cx="604157" cy="16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lang="en-US" sz="1422" b="1" spc="24" dirty="0">
                <a:solidFill>
                  <a:srgbClr val="5CC8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09</a:t>
            </a:r>
          </a:p>
        </p:txBody>
      </p:sp>
      <p:sp>
        <p:nvSpPr>
          <p:cNvPr id="38" name="TextBox 31">
            <a:extLst>
              <a:ext uri="{FF2B5EF4-FFF2-40B4-BE49-F238E27FC236}">
                <a16:creationId xmlns:a16="http://schemas.microsoft.com/office/drawing/2014/main" id="{61D27C3F-85EA-48C7-99A2-1D580A0FF029}"/>
              </a:ext>
            </a:extLst>
          </p:cNvPr>
          <p:cNvSpPr txBox="1"/>
          <p:nvPr/>
        </p:nvSpPr>
        <p:spPr>
          <a:xfrm>
            <a:off x="6518121" y="8278378"/>
            <a:ext cx="3262511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53"/>
              </a:lnSpc>
            </a:pPr>
            <a:r>
              <a:rPr lang="ko-KR" altLang="en-US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비상 정지 버튼</a:t>
            </a:r>
            <a:endParaRPr lang="en-US" sz="2524" b="1" spc="-91" dirty="0">
              <a:solidFill>
                <a:srgbClr val="4D4D4D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1" name="TextBox 33">
            <a:extLst>
              <a:ext uri="{FF2B5EF4-FFF2-40B4-BE49-F238E27FC236}">
                <a16:creationId xmlns:a16="http://schemas.microsoft.com/office/drawing/2014/main" id="{3455D3FD-976E-41C5-BD33-DF00FFE50FAA}"/>
              </a:ext>
            </a:extLst>
          </p:cNvPr>
          <p:cNvSpPr txBox="1"/>
          <p:nvPr/>
        </p:nvSpPr>
        <p:spPr>
          <a:xfrm>
            <a:off x="5913963" y="8384359"/>
            <a:ext cx="604157" cy="16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lang="en-US" sz="1422" b="1" spc="24" dirty="0">
                <a:solidFill>
                  <a:srgbClr val="5CC8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10</a:t>
            </a:r>
          </a:p>
        </p:txBody>
      </p:sp>
      <p:sp>
        <p:nvSpPr>
          <p:cNvPr id="44" name="TextBox 31">
            <a:extLst>
              <a:ext uri="{FF2B5EF4-FFF2-40B4-BE49-F238E27FC236}">
                <a16:creationId xmlns:a16="http://schemas.microsoft.com/office/drawing/2014/main" id="{4E298B8E-8B5F-41CD-B28E-6DFF0899C4E0}"/>
              </a:ext>
            </a:extLst>
          </p:cNvPr>
          <p:cNvSpPr txBox="1"/>
          <p:nvPr/>
        </p:nvSpPr>
        <p:spPr>
          <a:xfrm>
            <a:off x="6518121" y="9003243"/>
            <a:ext cx="3262511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53"/>
              </a:lnSpc>
            </a:pPr>
            <a:r>
              <a:rPr lang="en-US" altLang="ko-KR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Troubleshooting </a:t>
            </a:r>
            <a:r>
              <a:rPr lang="ko-KR" altLang="en-US" sz="2524" b="1" spc="-91" dirty="0">
                <a:solidFill>
                  <a:srgbClr val="4D4D4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사례 </a:t>
            </a:r>
            <a:endParaRPr lang="en-US" sz="2524" b="1" spc="-91" dirty="0">
              <a:solidFill>
                <a:srgbClr val="4D4D4D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7" name="TextBox 33">
            <a:extLst>
              <a:ext uri="{FF2B5EF4-FFF2-40B4-BE49-F238E27FC236}">
                <a16:creationId xmlns:a16="http://schemas.microsoft.com/office/drawing/2014/main" id="{8A183865-EED1-4BD0-8B5C-FC51CB61CADD}"/>
              </a:ext>
            </a:extLst>
          </p:cNvPr>
          <p:cNvSpPr txBox="1"/>
          <p:nvPr/>
        </p:nvSpPr>
        <p:spPr>
          <a:xfrm>
            <a:off x="5913963" y="9109224"/>
            <a:ext cx="604157" cy="16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</a:pPr>
            <a:r>
              <a:rPr lang="en-US" sz="1422" b="1" spc="24" dirty="0">
                <a:solidFill>
                  <a:srgbClr val="5CC8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30028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81" y="1054375"/>
            <a:ext cx="5524762" cy="57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프로젝트 개요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50" name="TextBox 17">
            <a:extLst>
              <a:ext uri="{FF2B5EF4-FFF2-40B4-BE49-F238E27FC236}">
                <a16:creationId xmlns:a16="http://schemas.microsoft.com/office/drawing/2014/main" id="{499F6C05-B0B3-4F03-832A-6FCD1FBD3883}"/>
              </a:ext>
            </a:extLst>
          </p:cNvPr>
          <p:cNvSpPr txBox="1"/>
          <p:nvPr/>
        </p:nvSpPr>
        <p:spPr>
          <a:xfrm>
            <a:off x="1523999" y="2483637"/>
            <a:ext cx="1139839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ko-KR" altLang="en-US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기존의 단순 물품 </a:t>
            </a:r>
            <a:r>
              <a:rPr lang="ko-KR" altLang="en-US" sz="3000" spc="-57" dirty="0" err="1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카운팅을</a:t>
            </a:r>
            <a:r>
              <a:rPr lang="ko-KR" altLang="en-US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 넘어</a:t>
            </a: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, </a:t>
            </a:r>
            <a:r>
              <a:rPr lang="ko-KR" altLang="en-US" sz="3000" b="1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위치</a:t>
            </a:r>
            <a:r>
              <a:rPr lang="en-US" altLang="ko-KR" sz="3000" b="1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(Location)</a:t>
            </a:r>
            <a:r>
              <a:rPr lang="ko-KR" altLang="en-US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와 </a:t>
            </a:r>
            <a:r>
              <a:rPr lang="ko-KR" altLang="en-US" sz="3000" b="1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속성</a:t>
            </a:r>
            <a:r>
              <a:rPr lang="en-US" altLang="ko-KR" sz="3000" b="1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(Attribute)</a:t>
            </a:r>
            <a:r>
              <a:rPr lang="ko-KR" altLang="en-US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을 동시에 관리하는 지능형 시스템</a:t>
            </a:r>
          </a:p>
        </p:txBody>
      </p:sp>
      <p:sp>
        <p:nvSpPr>
          <p:cNvPr id="77" name="Freeform 44">
            <a:extLst>
              <a:ext uri="{FF2B5EF4-FFF2-40B4-BE49-F238E27FC236}">
                <a16:creationId xmlns:a16="http://schemas.microsoft.com/office/drawing/2014/main" id="{E769C3EC-0A18-4F16-8AE5-BC0C39A1F3F2}"/>
              </a:ext>
            </a:extLst>
          </p:cNvPr>
          <p:cNvSpPr/>
          <p:nvPr/>
        </p:nvSpPr>
        <p:spPr>
          <a:xfrm>
            <a:off x="1205140" y="2647968"/>
            <a:ext cx="189836" cy="144749"/>
          </a:xfrm>
          <a:custGeom>
            <a:avLst/>
            <a:gdLst/>
            <a:ahLst/>
            <a:cxnLst/>
            <a:rect l="l" t="t" r="r" b="b"/>
            <a:pathLst>
              <a:path w="253114" h="192999">
                <a:moveTo>
                  <a:pt x="0" y="0"/>
                </a:moveTo>
                <a:lnTo>
                  <a:pt x="253114" y="0"/>
                </a:lnTo>
                <a:lnTo>
                  <a:pt x="253114" y="193000"/>
                </a:lnTo>
                <a:lnTo>
                  <a:pt x="0" y="19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Group 17">
            <a:extLst>
              <a:ext uri="{FF2B5EF4-FFF2-40B4-BE49-F238E27FC236}">
                <a16:creationId xmlns:a16="http://schemas.microsoft.com/office/drawing/2014/main" id="{D2C0BAF6-ACA6-4FB8-BF61-89F37708D4DA}"/>
              </a:ext>
            </a:extLst>
          </p:cNvPr>
          <p:cNvGrpSpPr/>
          <p:nvPr/>
        </p:nvGrpSpPr>
        <p:grpSpPr>
          <a:xfrm>
            <a:off x="878831" y="4807899"/>
            <a:ext cx="3792816" cy="4197119"/>
            <a:chOff x="0" y="0"/>
            <a:chExt cx="353279" cy="403383"/>
          </a:xfrm>
        </p:grpSpPr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28194FDE-30F7-4FA7-9C41-183E49EBE8DD}"/>
                </a:ext>
              </a:extLst>
            </p:cNvPr>
            <p:cNvSpPr/>
            <p:nvPr/>
          </p:nvSpPr>
          <p:spPr>
            <a:xfrm>
              <a:off x="0" y="0"/>
              <a:ext cx="353279" cy="403383"/>
            </a:xfrm>
            <a:custGeom>
              <a:avLst/>
              <a:gdLst/>
              <a:ahLst/>
              <a:cxnLst/>
              <a:rect l="l" t="t" r="r" b="b"/>
              <a:pathLst>
                <a:path w="353279" h="403383">
                  <a:moveTo>
                    <a:pt x="28434" y="0"/>
                  </a:moveTo>
                  <a:lnTo>
                    <a:pt x="324845" y="0"/>
                  </a:lnTo>
                  <a:cubicBezTo>
                    <a:pt x="332386" y="0"/>
                    <a:pt x="339619" y="2996"/>
                    <a:pt x="344951" y="8328"/>
                  </a:cubicBezTo>
                  <a:cubicBezTo>
                    <a:pt x="350283" y="13660"/>
                    <a:pt x="353279" y="20892"/>
                    <a:pt x="353279" y="28434"/>
                  </a:cubicBezTo>
                  <a:lnTo>
                    <a:pt x="353279" y="374949"/>
                  </a:lnTo>
                  <a:cubicBezTo>
                    <a:pt x="353279" y="382490"/>
                    <a:pt x="350283" y="389722"/>
                    <a:pt x="344951" y="395055"/>
                  </a:cubicBezTo>
                  <a:cubicBezTo>
                    <a:pt x="339619" y="400387"/>
                    <a:pt x="332386" y="403383"/>
                    <a:pt x="324845" y="403383"/>
                  </a:cubicBezTo>
                  <a:lnTo>
                    <a:pt x="28434" y="403383"/>
                  </a:lnTo>
                  <a:cubicBezTo>
                    <a:pt x="20892" y="403383"/>
                    <a:pt x="13660" y="400387"/>
                    <a:pt x="8328" y="395055"/>
                  </a:cubicBezTo>
                  <a:cubicBezTo>
                    <a:pt x="2996" y="389722"/>
                    <a:pt x="0" y="382490"/>
                    <a:pt x="0" y="374949"/>
                  </a:cubicBezTo>
                  <a:lnTo>
                    <a:pt x="0" y="28434"/>
                  </a:lnTo>
                  <a:cubicBezTo>
                    <a:pt x="0" y="20892"/>
                    <a:pt x="2996" y="13660"/>
                    <a:pt x="8328" y="8328"/>
                  </a:cubicBezTo>
                  <a:cubicBezTo>
                    <a:pt x="13660" y="2996"/>
                    <a:pt x="20892" y="0"/>
                    <a:pt x="28434" y="0"/>
                  </a:cubicBezTo>
                  <a:close/>
                </a:path>
              </a:pathLst>
            </a:custGeom>
            <a:solidFill>
              <a:srgbClr val="F6FFF3"/>
            </a:solidFill>
            <a:ln w="38100" cap="sq">
              <a:solidFill>
                <a:srgbClr val="E3E3E3"/>
              </a:solidFill>
              <a:prstDash val="solid"/>
              <a:miter/>
            </a:ln>
          </p:spPr>
        </p:sp>
        <p:sp>
          <p:nvSpPr>
            <p:cNvPr id="81" name="TextBox 19">
              <a:extLst>
                <a:ext uri="{FF2B5EF4-FFF2-40B4-BE49-F238E27FC236}">
                  <a16:creationId xmlns:a16="http://schemas.microsoft.com/office/drawing/2014/main" id="{DA339882-6BD0-4311-8329-B209FD7CDB11}"/>
                </a:ext>
              </a:extLst>
            </p:cNvPr>
            <p:cNvSpPr txBox="1"/>
            <p:nvPr/>
          </p:nvSpPr>
          <p:spPr>
            <a:xfrm>
              <a:off x="0" y="-28575"/>
              <a:ext cx="353279" cy="431958"/>
            </a:xfrm>
            <a:prstGeom prst="rect">
              <a:avLst/>
            </a:prstGeom>
          </p:spPr>
          <p:txBody>
            <a:bodyPr lIns="28388" tIns="28388" rIns="28388" bIns="28388" rtlCol="0" anchor="ctr"/>
            <a:lstStyle/>
            <a:p>
              <a:pPr algn="ctr">
                <a:lnSpc>
                  <a:spcPts val="2125"/>
                </a:lnSpc>
                <a:spcBef>
                  <a:spcPct val="0"/>
                </a:spcBef>
              </a:pPr>
              <a:endParaRPr sz="1350"/>
            </a:p>
          </p:txBody>
        </p:sp>
      </p:grpSp>
      <p:sp>
        <p:nvSpPr>
          <p:cNvPr id="82" name="TextBox 26">
            <a:extLst>
              <a:ext uri="{FF2B5EF4-FFF2-40B4-BE49-F238E27FC236}">
                <a16:creationId xmlns:a16="http://schemas.microsoft.com/office/drawing/2014/main" id="{D5873494-D83B-4A99-99A6-89C871EEAA13}"/>
              </a:ext>
            </a:extLst>
          </p:cNvPr>
          <p:cNvSpPr txBox="1"/>
          <p:nvPr/>
        </p:nvSpPr>
        <p:spPr>
          <a:xfrm>
            <a:off x="1319406" y="6841398"/>
            <a:ext cx="279440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ko-KR" altLang="en-US" sz="2400" spc="-58" dirty="0" err="1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재질별</a:t>
            </a:r>
            <a:r>
              <a:rPr lang="ko-KR" altLang="en-US" sz="24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 자동 분류 및 </a:t>
            </a:r>
            <a:endParaRPr lang="en-US" altLang="ko-KR" sz="2400" spc="-58" dirty="0">
              <a:solidFill>
                <a:schemeClr val="tx1">
                  <a:lumMod val="85000"/>
                  <a:lumOff val="15000"/>
                  <a:alpha val="61961"/>
                </a:scheme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ctr"/>
            <a:r>
              <a:rPr lang="ko-KR" altLang="en-US" sz="24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사용자 지정 입출고 제어</a:t>
            </a:r>
          </a:p>
        </p:txBody>
      </p:sp>
      <p:sp>
        <p:nvSpPr>
          <p:cNvPr id="83" name="TextBox 29">
            <a:extLst>
              <a:ext uri="{FF2B5EF4-FFF2-40B4-BE49-F238E27FC236}">
                <a16:creationId xmlns:a16="http://schemas.microsoft.com/office/drawing/2014/main" id="{806A377E-9560-4FE5-A4BC-95557FB3916A}"/>
              </a:ext>
            </a:extLst>
          </p:cNvPr>
          <p:cNvSpPr txBox="1"/>
          <p:nvPr/>
        </p:nvSpPr>
        <p:spPr>
          <a:xfrm>
            <a:off x="1200745" y="5688791"/>
            <a:ext cx="3031968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8"/>
              </a:lnSpc>
            </a:pPr>
            <a:r>
              <a:rPr lang="en-US" sz="2806" b="1" spc="-50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INTELLIGENT SORTING</a:t>
            </a:r>
          </a:p>
        </p:txBody>
      </p:sp>
      <p:sp>
        <p:nvSpPr>
          <p:cNvPr id="84" name="AutoShape 32">
            <a:extLst>
              <a:ext uri="{FF2B5EF4-FFF2-40B4-BE49-F238E27FC236}">
                <a16:creationId xmlns:a16="http://schemas.microsoft.com/office/drawing/2014/main" id="{8F926F6F-982C-4557-835D-FC7A6C039A91}"/>
              </a:ext>
            </a:extLst>
          </p:cNvPr>
          <p:cNvSpPr/>
          <p:nvPr/>
        </p:nvSpPr>
        <p:spPr>
          <a:xfrm flipV="1">
            <a:off x="1200624" y="6503999"/>
            <a:ext cx="3031968" cy="0"/>
          </a:xfrm>
          <a:prstGeom prst="line">
            <a:avLst/>
          </a:prstGeom>
          <a:ln w="19050" cap="flat">
            <a:solidFill>
              <a:srgbClr val="E3E3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5" name="TextBox 35">
            <a:extLst>
              <a:ext uri="{FF2B5EF4-FFF2-40B4-BE49-F238E27FC236}">
                <a16:creationId xmlns:a16="http://schemas.microsoft.com/office/drawing/2014/main" id="{7E736768-35B9-4671-8621-0777C56F2636}"/>
              </a:ext>
            </a:extLst>
          </p:cNvPr>
          <p:cNvSpPr txBox="1"/>
          <p:nvPr/>
        </p:nvSpPr>
        <p:spPr>
          <a:xfrm rot="-18144">
            <a:off x="1927684" y="5378428"/>
            <a:ext cx="1577849" cy="1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lang="en-US" sz="1196" b="1" spc="-8" dirty="0">
                <a:solidFill>
                  <a:srgbClr val="5CC88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Feature 01</a:t>
            </a:r>
          </a:p>
        </p:txBody>
      </p:sp>
      <p:grpSp>
        <p:nvGrpSpPr>
          <p:cNvPr id="104" name="Group 17">
            <a:extLst>
              <a:ext uri="{FF2B5EF4-FFF2-40B4-BE49-F238E27FC236}">
                <a16:creationId xmlns:a16="http://schemas.microsoft.com/office/drawing/2014/main" id="{E0BF1AAA-B4B3-45A0-BC92-4165470600B9}"/>
              </a:ext>
            </a:extLst>
          </p:cNvPr>
          <p:cNvGrpSpPr/>
          <p:nvPr/>
        </p:nvGrpSpPr>
        <p:grpSpPr>
          <a:xfrm>
            <a:off x="4990315" y="4807899"/>
            <a:ext cx="3792816" cy="4197119"/>
            <a:chOff x="0" y="0"/>
            <a:chExt cx="353279" cy="403383"/>
          </a:xfrm>
        </p:grpSpPr>
        <p:sp>
          <p:nvSpPr>
            <p:cNvPr id="105" name="Freeform 18">
              <a:extLst>
                <a:ext uri="{FF2B5EF4-FFF2-40B4-BE49-F238E27FC236}">
                  <a16:creationId xmlns:a16="http://schemas.microsoft.com/office/drawing/2014/main" id="{DF76B328-42BF-43FF-9245-85CDF3C726D3}"/>
                </a:ext>
              </a:extLst>
            </p:cNvPr>
            <p:cNvSpPr/>
            <p:nvPr/>
          </p:nvSpPr>
          <p:spPr>
            <a:xfrm>
              <a:off x="0" y="0"/>
              <a:ext cx="353279" cy="403383"/>
            </a:xfrm>
            <a:custGeom>
              <a:avLst/>
              <a:gdLst/>
              <a:ahLst/>
              <a:cxnLst/>
              <a:rect l="l" t="t" r="r" b="b"/>
              <a:pathLst>
                <a:path w="353279" h="403383">
                  <a:moveTo>
                    <a:pt x="28434" y="0"/>
                  </a:moveTo>
                  <a:lnTo>
                    <a:pt x="324845" y="0"/>
                  </a:lnTo>
                  <a:cubicBezTo>
                    <a:pt x="332386" y="0"/>
                    <a:pt x="339619" y="2996"/>
                    <a:pt x="344951" y="8328"/>
                  </a:cubicBezTo>
                  <a:cubicBezTo>
                    <a:pt x="350283" y="13660"/>
                    <a:pt x="353279" y="20892"/>
                    <a:pt x="353279" y="28434"/>
                  </a:cubicBezTo>
                  <a:lnTo>
                    <a:pt x="353279" y="374949"/>
                  </a:lnTo>
                  <a:cubicBezTo>
                    <a:pt x="353279" y="382490"/>
                    <a:pt x="350283" y="389722"/>
                    <a:pt x="344951" y="395055"/>
                  </a:cubicBezTo>
                  <a:cubicBezTo>
                    <a:pt x="339619" y="400387"/>
                    <a:pt x="332386" y="403383"/>
                    <a:pt x="324845" y="403383"/>
                  </a:cubicBezTo>
                  <a:lnTo>
                    <a:pt x="28434" y="403383"/>
                  </a:lnTo>
                  <a:cubicBezTo>
                    <a:pt x="20892" y="403383"/>
                    <a:pt x="13660" y="400387"/>
                    <a:pt x="8328" y="395055"/>
                  </a:cubicBezTo>
                  <a:cubicBezTo>
                    <a:pt x="2996" y="389722"/>
                    <a:pt x="0" y="382490"/>
                    <a:pt x="0" y="374949"/>
                  </a:cubicBezTo>
                  <a:lnTo>
                    <a:pt x="0" y="28434"/>
                  </a:lnTo>
                  <a:cubicBezTo>
                    <a:pt x="0" y="20892"/>
                    <a:pt x="2996" y="13660"/>
                    <a:pt x="8328" y="8328"/>
                  </a:cubicBezTo>
                  <a:cubicBezTo>
                    <a:pt x="13660" y="2996"/>
                    <a:pt x="20892" y="0"/>
                    <a:pt x="28434" y="0"/>
                  </a:cubicBezTo>
                  <a:close/>
                </a:path>
              </a:pathLst>
            </a:custGeom>
            <a:solidFill>
              <a:srgbClr val="F6FFF3"/>
            </a:solidFill>
            <a:ln w="38100" cap="sq">
              <a:solidFill>
                <a:srgbClr val="E3E3E3"/>
              </a:solidFill>
              <a:prstDash val="solid"/>
              <a:miter/>
            </a:ln>
          </p:spPr>
        </p:sp>
        <p:sp>
          <p:nvSpPr>
            <p:cNvPr id="106" name="TextBox 19">
              <a:extLst>
                <a:ext uri="{FF2B5EF4-FFF2-40B4-BE49-F238E27FC236}">
                  <a16:creationId xmlns:a16="http://schemas.microsoft.com/office/drawing/2014/main" id="{69DCD098-F3BB-44A7-99FF-40959AC22F4C}"/>
                </a:ext>
              </a:extLst>
            </p:cNvPr>
            <p:cNvSpPr txBox="1"/>
            <p:nvPr/>
          </p:nvSpPr>
          <p:spPr>
            <a:xfrm>
              <a:off x="0" y="-28575"/>
              <a:ext cx="353279" cy="431958"/>
            </a:xfrm>
            <a:prstGeom prst="rect">
              <a:avLst/>
            </a:prstGeom>
          </p:spPr>
          <p:txBody>
            <a:bodyPr lIns="28388" tIns="28388" rIns="28388" bIns="28388" rtlCol="0" anchor="ctr"/>
            <a:lstStyle/>
            <a:p>
              <a:pPr algn="ctr">
                <a:lnSpc>
                  <a:spcPts val="2125"/>
                </a:lnSpc>
                <a:spcBef>
                  <a:spcPct val="0"/>
                </a:spcBef>
              </a:pPr>
              <a:endParaRPr sz="1350"/>
            </a:p>
          </p:txBody>
        </p:sp>
      </p:grpSp>
      <p:sp>
        <p:nvSpPr>
          <p:cNvPr id="107" name="TextBox 26">
            <a:extLst>
              <a:ext uri="{FF2B5EF4-FFF2-40B4-BE49-F238E27FC236}">
                <a16:creationId xmlns:a16="http://schemas.microsoft.com/office/drawing/2014/main" id="{CED8C5F5-6362-4258-9474-DEF45A24B7B3}"/>
              </a:ext>
            </a:extLst>
          </p:cNvPr>
          <p:cNvSpPr txBox="1"/>
          <p:nvPr/>
        </p:nvSpPr>
        <p:spPr>
          <a:xfrm>
            <a:off x="5430890" y="6841398"/>
            <a:ext cx="279440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ko-KR" altLang="en-US" sz="24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배열</a:t>
            </a:r>
            <a:r>
              <a:rPr lang="en-US" altLang="ko-KR" sz="24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(Array) </a:t>
            </a:r>
            <a:r>
              <a:rPr lang="ko-KR" altLang="en-US" sz="24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및 구조체 개념을 활용한 체계적 데이터 관리</a:t>
            </a:r>
          </a:p>
        </p:txBody>
      </p:sp>
      <p:sp>
        <p:nvSpPr>
          <p:cNvPr id="108" name="TextBox 29">
            <a:extLst>
              <a:ext uri="{FF2B5EF4-FFF2-40B4-BE49-F238E27FC236}">
                <a16:creationId xmlns:a16="http://schemas.microsoft.com/office/drawing/2014/main" id="{F2D879E6-6F87-4650-85D4-6BC90BD20C54}"/>
              </a:ext>
            </a:extLst>
          </p:cNvPr>
          <p:cNvSpPr txBox="1"/>
          <p:nvPr/>
        </p:nvSpPr>
        <p:spPr>
          <a:xfrm>
            <a:off x="5381677" y="5677216"/>
            <a:ext cx="3031968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8"/>
              </a:lnSpc>
            </a:pPr>
            <a:r>
              <a:rPr lang="en-US" sz="2806" b="1" spc="-50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DATA MANAGEMENT</a:t>
            </a:r>
          </a:p>
        </p:txBody>
      </p:sp>
      <p:sp>
        <p:nvSpPr>
          <p:cNvPr id="109" name="AutoShape 32">
            <a:extLst>
              <a:ext uri="{FF2B5EF4-FFF2-40B4-BE49-F238E27FC236}">
                <a16:creationId xmlns:a16="http://schemas.microsoft.com/office/drawing/2014/main" id="{4558A852-A99E-4CBC-9820-607972F7E099}"/>
              </a:ext>
            </a:extLst>
          </p:cNvPr>
          <p:cNvSpPr/>
          <p:nvPr/>
        </p:nvSpPr>
        <p:spPr>
          <a:xfrm flipV="1">
            <a:off x="5312108" y="6503999"/>
            <a:ext cx="3031968" cy="0"/>
          </a:xfrm>
          <a:prstGeom prst="line">
            <a:avLst/>
          </a:prstGeom>
          <a:ln w="19050" cap="flat">
            <a:solidFill>
              <a:srgbClr val="E3E3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0" name="TextBox 35">
            <a:extLst>
              <a:ext uri="{FF2B5EF4-FFF2-40B4-BE49-F238E27FC236}">
                <a16:creationId xmlns:a16="http://schemas.microsoft.com/office/drawing/2014/main" id="{01A34742-5404-4A27-B0DA-12012A6F02B1}"/>
              </a:ext>
            </a:extLst>
          </p:cNvPr>
          <p:cNvSpPr txBox="1"/>
          <p:nvPr/>
        </p:nvSpPr>
        <p:spPr>
          <a:xfrm rot="-18144">
            <a:off x="6039168" y="5378428"/>
            <a:ext cx="1577849" cy="1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lang="en-US" sz="1196" b="1" spc="-8" dirty="0">
                <a:solidFill>
                  <a:srgbClr val="5CC88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Feature 02</a:t>
            </a:r>
          </a:p>
        </p:txBody>
      </p:sp>
      <p:grpSp>
        <p:nvGrpSpPr>
          <p:cNvPr id="111" name="Group 17">
            <a:extLst>
              <a:ext uri="{FF2B5EF4-FFF2-40B4-BE49-F238E27FC236}">
                <a16:creationId xmlns:a16="http://schemas.microsoft.com/office/drawing/2014/main" id="{1CA29A09-4958-4272-89BF-C9DFF82F05FB}"/>
              </a:ext>
            </a:extLst>
          </p:cNvPr>
          <p:cNvGrpSpPr/>
          <p:nvPr/>
        </p:nvGrpSpPr>
        <p:grpSpPr>
          <a:xfrm>
            <a:off x="9058142" y="4807899"/>
            <a:ext cx="3792816" cy="4197119"/>
            <a:chOff x="0" y="0"/>
            <a:chExt cx="353279" cy="403383"/>
          </a:xfrm>
        </p:grpSpPr>
        <p:sp>
          <p:nvSpPr>
            <p:cNvPr id="112" name="Freeform 18">
              <a:extLst>
                <a:ext uri="{FF2B5EF4-FFF2-40B4-BE49-F238E27FC236}">
                  <a16:creationId xmlns:a16="http://schemas.microsoft.com/office/drawing/2014/main" id="{65F5662D-86EE-4840-8073-BC3BE733B669}"/>
                </a:ext>
              </a:extLst>
            </p:cNvPr>
            <p:cNvSpPr/>
            <p:nvPr/>
          </p:nvSpPr>
          <p:spPr>
            <a:xfrm>
              <a:off x="0" y="0"/>
              <a:ext cx="353279" cy="403383"/>
            </a:xfrm>
            <a:custGeom>
              <a:avLst/>
              <a:gdLst/>
              <a:ahLst/>
              <a:cxnLst/>
              <a:rect l="l" t="t" r="r" b="b"/>
              <a:pathLst>
                <a:path w="353279" h="403383">
                  <a:moveTo>
                    <a:pt x="28434" y="0"/>
                  </a:moveTo>
                  <a:lnTo>
                    <a:pt x="324845" y="0"/>
                  </a:lnTo>
                  <a:cubicBezTo>
                    <a:pt x="332386" y="0"/>
                    <a:pt x="339619" y="2996"/>
                    <a:pt x="344951" y="8328"/>
                  </a:cubicBezTo>
                  <a:cubicBezTo>
                    <a:pt x="350283" y="13660"/>
                    <a:pt x="353279" y="20892"/>
                    <a:pt x="353279" y="28434"/>
                  </a:cubicBezTo>
                  <a:lnTo>
                    <a:pt x="353279" y="374949"/>
                  </a:lnTo>
                  <a:cubicBezTo>
                    <a:pt x="353279" y="382490"/>
                    <a:pt x="350283" y="389722"/>
                    <a:pt x="344951" y="395055"/>
                  </a:cubicBezTo>
                  <a:cubicBezTo>
                    <a:pt x="339619" y="400387"/>
                    <a:pt x="332386" y="403383"/>
                    <a:pt x="324845" y="403383"/>
                  </a:cubicBezTo>
                  <a:lnTo>
                    <a:pt x="28434" y="403383"/>
                  </a:lnTo>
                  <a:cubicBezTo>
                    <a:pt x="20892" y="403383"/>
                    <a:pt x="13660" y="400387"/>
                    <a:pt x="8328" y="395055"/>
                  </a:cubicBezTo>
                  <a:cubicBezTo>
                    <a:pt x="2996" y="389722"/>
                    <a:pt x="0" y="382490"/>
                    <a:pt x="0" y="374949"/>
                  </a:cubicBezTo>
                  <a:lnTo>
                    <a:pt x="0" y="28434"/>
                  </a:lnTo>
                  <a:cubicBezTo>
                    <a:pt x="0" y="20892"/>
                    <a:pt x="2996" y="13660"/>
                    <a:pt x="8328" y="8328"/>
                  </a:cubicBezTo>
                  <a:cubicBezTo>
                    <a:pt x="13660" y="2996"/>
                    <a:pt x="20892" y="0"/>
                    <a:pt x="28434" y="0"/>
                  </a:cubicBezTo>
                  <a:close/>
                </a:path>
              </a:pathLst>
            </a:custGeom>
            <a:solidFill>
              <a:srgbClr val="F6FFF3"/>
            </a:solidFill>
            <a:ln w="38100" cap="sq">
              <a:solidFill>
                <a:srgbClr val="E3E3E3"/>
              </a:solidFill>
              <a:prstDash val="solid"/>
              <a:miter/>
            </a:ln>
          </p:spPr>
        </p:sp>
        <p:sp>
          <p:nvSpPr>
            <p:cNvPr id="113" name="TextBox 19">
              <a:extLst>
                <a:ext uri="{FF2B5EF4-FFF2-40B4-BE49-F238E27FC236}">
                  <a16:creationId xmlns:a16="http://schemas.microsoft.com/office/drawing/2014/main" id="{E5623C42-799A-4265-A558-B867228A69A0}"/>
                </a:ext>
              </a:extLst>
            </p:cNvPr>
            <p:cNvSpPr txBox="1"/>
            <p:nvPr/>
          </p:nvSpPr>
          <p:spPr>
            <a:xfrm>
              <a:off x="0" y="-28575"/>
              <a:ext cx="353279" cy="431958"/>
            </a:xfrm>
            <a:prstGeom prst="rect">
              <a:avLst/>
            </a:prstGeom>
          </p:spPr>
          <p:txBody>
            <a:bodyPr lIns="28388" tIns="28388" rIns="28388" bIns="28388" rtlCol="0" anchor="ctr"/>
            <a:lstStyle/>
            <a:p>
              <a:pPr algn="ctr">
                <a:lnSpc>
                  <a:spcPts val="2125"/>
                </a:lnSpc>
                <a:spcBef>
                  <a:spcPct val="0"/>
                </a:spcBef>
              </a:pPr>
              <a:endParaRPr sz="1350"/>
            </a:p>
          </p:txBody>
        </p:sp>
      </p:grpSp>
      <p:sp>
        <p:nvSpPr>
          <p:cNvPr id="114" name="TextBox 26">
            <a:extLst>
              <a:ext uri="{FF2B5EF4-FFF2-40B4-BE49-F238E27FC236}">
                <a16:creationId xmlns:a16="http://schemas.microsoft.com/office/drawing/2014/main" id="{49DB014B-462E-47ED-A77F-159E7A182F53}"/>
              </a:ext>
            </a:extLst>
          </p:cNvPr>
          <p:cNvSpPr txBox="1"/>
          <p:nvPr/>
        </p:nvSpPr>
        <p:spPr>
          <a:xfrm>
            <a:off x="9498717" y="6841398"/>
            <a:ext cx="279440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ko-KR" sz="24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HMI</a:t>
            </a:r>
            <a:r>
              <a:rPr lang="ko-KR" altLang="en-US" sz="24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를 통한 실시간 공정 현황 및 데이터 시각화</a:t>
            </a:r>
          </a:p>
        </p:txBody>
      </p:sp>
      <p:sp>
        <p:nvSpPr>
          <p:cNvPr id="115" name="TextBox 29">
            <a:extLst>
              <a:ext uri="{FF2B5EF4-FFF2-40B4-BE49-F238E27FC236}">
                <a16:creationId xmlns:a16="http://schemas.microsoft.com/office/drawing/2014/main" id="{8C9671B5-A905-42C2-8DAD-A7F78D5C3058}"/>
              </a:ext>
            </a:extLst>
          </p:cNvPr>
          <p:cNvSpPr txBox="1"/>
          <p:nvPr/>
        </p:nvSpPr>
        <p:spPr>
          <a:xfrm>
            <a:off x="9380056" y="5688791"/>
            <a:ext cx="3031968" cy="44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8"/>
              </a:lnSpc>
            </a:pPr>
            <a:r>
              <a:rPr lang="en-US" sz="2700" b="1" spc="-50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REAL-TIME MONITORING</a:t>
            </a:r>
          </a:p>
        </p:txBody>
      </p:sp>
      <p:sp>
        <p:nvSpPr>
          <p:cNvPr id="116" name="AutoShape 32">
            <a:extLst>
              <a:ext uri="{FF2B5EF4-FFF2-40B4-BE49-F238E27FC236}">
                <a16:creationId xmlns:a16="http://schemas.microsoft.com/office/drawing/2014/main" id="{A723F99D-C430-49C7-A9C0-E2FE9D310310}"/>
              </a:ext>
            </a:extLst>
          </p:cNvPr>
          <p:cNvSpPr/>
          <p:nvPr/>
        </p:nvSpPr>
        <p:spPr>
          <a:xfrm flipV="1">
            <a:off x="9379935" y="6503999"/>
            <a:ext cx="3031968" cy="0"/>
          </a:xfrm>
          <a:prstGeom prst="line">
            <a:avLst/>
          </a:prstGeom>
          <a:ln w="19050" cap="flat">
            <a:solidFill>
              <a:srgbClr val="E3E3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7" name="TextBox 35">
            <a:extLst>
              <a:ext uri="{FF2B5EF4-FFF2-40B4-BE49-F238E27FC236}">
                <a16:creationId xmlns:a16="http://schemas.microsoft.com/office/drawing/2014/main" id="{AA3FF896-00BB-4E39-B618-E35AB01E69D7}"/>
              </a:ext>
            </a:extLst>
          </p:cNvPr>
          <p:cNvSpPr txBox="1"/>
          <p:nvPr/>
        </p:nvSpPr>
        <p:spPr>
          <a:xfrm rot="-18144">
            <a:off x="10106995" y="5378428"/>
            <a:ext cx="1577849" cy="1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lang="en-US" sz="1196" b="1" spc="-8" dirty="0">
                <a:solidFill>
                  <a:srgbClr val="5CC88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Feature 03</a:t>
            </a:r>
          </a:p>
        </p:txBody>
      </p:sp>
    </p:spTree>
    <p:extLst>
      <p:ext uri="{BB962C8B-B14F-4D97-AF65-F5344CB8AC3E}">
        <p14:creationId xmlns:p14="http://schemas.microsoft.com/office/powerpoint/2010/main" val="109625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81" y="1054375"/>
            <a:ext cx="5524762" cy="57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전체 프로세스 흐름도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90F9A4-1F4E-4A91-B4DA-4FE098D4F7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27" y="2353881"/>
            <a:ext cx="11797417" cy="67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3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81" y="1054375"/>
            <a:ext cx="5524762" cy="57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동영상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52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71" y="1050861"/>
            <a:ext cx="6856462" cy="575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데이터 설계의 배경 및 필요성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Group 20">
            <a:extLst>
              <a:ext uri="{FF2B5EF4-FFF2-40B4-BE49-F238E27FC236}">
                <a16:creationId xmlns:a16="http://schemas.microsoft.com/office/drawing/2014/main" id="{18016ED0-7B13-4BF8-AC80-D1A1EAE5010F}"/>
              </a:ext>
            </a:extLst>
          </p:cNvPr>
          <p:cNvGrpSpPr/>
          <p:nvPr/>
        </p:nvGrpSpPr>
        <p:grpSpPr>
          <a:xfrm>
            <a:off x="994649" y="2128854"/>
            <a:ext cx="5712005" cy="5495305"/>
            <a:chOff x="-36552" y="-28575"/>
            <a:chExt cx="2393058" cy="876389"/>
          </a:xfrm>
        </p:grpSpPr>
        <p:sp>
          <p:nvSpPr>
            <p:cNvPr id="9" name="Freeform 21">
              <a:extLst>
                <a:ext uri="{FF2B5EF4-FFF2-40B4-BE49-F238E27FC236}">
                  <a16:creationId xmlns:a16="http://schemas.microsoft.com/office/drawing/2014/main" id="{EDDC0754-2960-445A-B2A6-E614F8D35F5E}"/>
                </a:ext>
              </a:extLst>
            </p:cNvPr>
            <p:cNvSpPr/>
            <p:nvPr/>
          </p:nvSpPr>
          <p:spPr>
            <a:xfrm>
              <a:off x="-36552" y="2676"/>
              <a:ext cx="2052076" cy="845138"/>
            </a:xfrm>
            <a:custGeom>
              <a:avLst/>
              <a:gdLst/>
              <a:ahLst/>
              <a:cxnLst/>
              <a:rect l="l" t="t" r="r" b="b"/>
              <a:pathLst>
                <a:path w="2356506" h="845138">
                  <a:moveTo>
                    <a:pt x="18581" y="0"/>
                  </a:moveTo>
                  <a:lnTo>
                    <a:pt x="2337925" y="0"/>
                  </a:lnTo>
                  <a:cubicBezTo>
                    <a:pt x="2348187" y="0"/>
                    <a:pt x="2356506" y="8319"/>
                    <a:pt x="2356506" y="18581"/>
                  </a:cubicBezTo>
                  <a:lnTo>
                    <a:pt x="2356506" y="826557"/>
                  </a:lnTo>
                  <a:cubicBezTo>
                    <a:pt x="2356506" y="836819"/>
                    <a:pt x="2348187" y="845138"/>
                    <a:pt x="2337925" y="845138"/>
                  </a:cubicBezTo>
                  <a:lnTo>
                    <a:pt x="18581" y="845138"/>
                  </a:lnTo>
                  <a:cubicBezTo>
                    <a:pt x="8319" y="845138"/>
                    <a:pt x="0" y="836819"/>
                    <a:pt x="0" y="826557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22">
              <a:extLst>
                <a:ext uri="{FF2B5EF4-FFF2-40B4-BE49-F238E27FC236}">
                  <a16:creationId xmlns:a16="http://schemas.microsoft.com/office/drawing/2014/main" id="{23E1536F-B720-4123-BC44-E9B88ADBA748}"/>
                </a:ext>
              </a:extLst>
            </p:cNvPr>
            <p:cNvSpPr txBox="1"/>
            <p:nvPr/>
          </p:nvSpPr>
          <p:spPr>
            <a:xfrm>
              <a:off x="0" y="-28575"/>
              <a:ext cx="2356506" cy="873713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2125"/>
                </a:lnSpc>
                <a:spcBef>
                  <a:spcPct val="0"/>
                </a:spcBef>
              </a:pPr>
              <a:endParaRPr sz="1350"/>
            </a:p>
          </p:txBody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CF882B8E-5473-4245-A9D4-B5C3A5ED3888}"/>
              </a:ext>
            </a:extLst>
          </p:cNvPr>
          <p:cNvGrpSpPr/>
          <p:nvPr/>
        </p:nvGrpSpPr>
        <p:grpSpPr>
          <a:xfrm>
            <a:off x="7584942" y="2163668"/>
            <a:ext cx="4898113" cy="5460489"/>
            <a:chOff x="0" y="-28575"/>
            <a:chExt cx="2356506" cy="968300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9D61227E-F950-441A-BEC6-E34CFD9277B8}"/>
                </a:ext>
              </a:extLst>
            </p:cNvPr>
            <p:cNvSpPr/>
            <p:nvPr/>
          </p:nvSpPr>
          <p:spPr>
            <a:xfrm>
              <a:off x="0" y="0"/>
              <a:ext cx="2356506" cy="939725"/>
            </a:xfrm>
            <a:custGeom>
              <a:avLst/>
              <a:gdLst/>
              <a:ahLst/>
              <a:cxnLst/>
              <a:rect l="l" t="t" r="r" b="b"/>
              <a:pathLst>
                <a:path w="2356506" h="845138">
                  <a:moveTo>
                    <a:pt x="18581" y="0"/>
                  </a:moveTo>
                  <a:lnTo>
                    <a:pt x="2337925" y="0"/>
                  </a:lnTo>
                  <a:cubicBezTo>
                    <a:pt x="2348187" y="0"/>
                    <a:pt x="2356506" y="8319"/>
                    <a:pt x="2356506" y="18581"/>
                  </a:cubicBezTo>
                  <a:lnTo>
                    <a:pt x="2356506" y="826557"/>
                  </a:lnTo>
                  <a:cubicBezTo>
                    <a:pt x="2356506" y="836819"/>
                    <a:pt x="2348187" y="845138"/>
                    <a:pt x="2337925" y="845138"/>
                  </a:cubicBezTo>
                  <a:lnTo>
                    <a:pt x="18581" y="845138"/>
                  </a:lnTo>
                  <a:cubicBezTo>
                    <a:pt x="8319" y="845138"/>
                    <a:pt x="0" y="836819"/>
                    <a:pt x="0" y="826557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solidFill>
              <a:srgbClr val="E5F6EC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28">
              <a:extLst>
                <a:ext uri="{FF2B5EF4-FFF2-40B4-BE49-F238E27FC236}">
                  <a16:creationId xmlns:a16="http://schemas.microsoft.com/office/drawing/2014/main" id="{63A60C0F-E3CF-42F7-A2A2-7D45E79F58EA}"/>
                </a:ext>
              </a:extLst>
            </p:cNvPr>
            <p:cNvSpPr txBox="1"/>
            <p:nvPr/>
          </p:nvSpPr>
          <p:spPr>
            <a:xfrm>
              <a:off x="0" y="-28575"/>
              <a:ext cx="2356506" cy="873713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2125"/>
                </a:lnSpc>
                <a:spcBef>
                  <a:spcPct val="0"/>
                </a:spcBef>
              </a:pPr>
              <a:endParaRPr sz="1350"/>
            </a:p>
          </p:txBody>
        </p:sp>
      </p:grpSp>
      <p:sp>
        <p:nvSpPr>
          <p:cNvPr id="15" name="TextBox 30">
            <a:extLst>
              <a:ext uri="{FF2B5EF4-FFF2-40B4-BE49-F238E27FC236}">
                <a16:creationId xmlns:a16="http://schemas.microsoft.com/office/drawing/2014/main" id="{0801BDCE-EA79-4184-90F6-677652B92C33}"/>
              </a:ext>
            </a:extLst>
          </p:cNvPr>
          <p:cNvSpPr txBox="1"/>
          <p:nvPr/>
        </p:nvSpPr>
        <p:spPr>
          <a:xfrm>
            <a:off x="1646534" y="2824779"/>
            <a:ext cx="2752861" cy="38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13"/>
              </a:lnSpc>
            </a:pPr>
            <a:r>
              <a:rPr lang="ko-KR" altLang="en-US" sz="2620" b="1" spc="-92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기존 시스템</a:t>
            </a:r>
            <a:endParaRPr lang="en-US" sz="2620" b="1" spc="-92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FD75E23-3C0C-45AE-ACED-1525160BF42F}"/>
              </a:ext>
            </a:extLst>
          </p:cNvPr>
          <p:cNvGrpSpPr/>
          <p:nvPr/>
        </p:nvGrpSpPr>
        <p:grpSpPr>
          <a:xfrm>
            <a:off x="1358398" y="3568796"/>
            <a:ext cx="3599335" cy="862480"/>
            <a:chOff x="1429864" y="4405020"/>
            <a:chExt cx="3599335" cy="862480"/>
          </a:xfrm>
        </p:grpSpPr>
        <p:sp>
          <p:nvSpPr>
            <p:cNvPr id="18" name="TextBox 34">
              <a:extLst>
                <a:ext uri="{FF2B5EF4-FFF2-40B4-BE49-F238E27FC236}">
                  <a16:creationId xmlns:a16="http://schemas.microsoft.com/office/drawing/2014/main" id="{9EE92C1C-4CC3-41F9-9EAA-7AE7527A2CE4}"/>
                </a:ext>
              </a:extLst>
            </p:cNvPr>
            <p:cNvSpPr txBox="1"/>
            <p:nvPr/>
          </p:nvSpPr>
          <p:spPr>
            <a:xfrm>
              <a:off x="1661628" y="4405020"/>
              <a:ext cx="3367571" cy="8624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단순 수량 카운트 </a:t>
              </a:r>
              <a:r>
                <a:rPr lang="en-US" altLang="ko-KR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(Count-up)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rgbClr val="4D4D4D">
                      <a:alpha val="61961"/>
                    </a:srgbClr>
                  </a:solidFill>
                  <a:latin typeface="+mj-ea"/>
                  <a:ea typeface="+mj-ea"/>
                  <a:cs typeface="JASO Sans"/>
                  <a:sym typeface="JASO Sans"/>
                </a:rPr>
                <a:t>총 재고량만 파악 가능</a:t>
              </a: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2F06359-66E1-45A6-908B-D8240CB14B7B}"/>
                </a:ext>
              </a:extLst>
            </p:cNvPr>
            <p:cNvSpPr/>
            <p:nvPr/>
          </p:nvSpPr>
          <p:spPr>
            <a:xfrm>
              <a:off x="1429864" y="4610100"/>
              <a:ext cx="103962" cy="990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FA748C9-4829-42C7-A4F7-6D6A02724A58}"/>
              </a:ext>
            </a:extLst>
          </p:cNvPr>
          <p:cNvGrpSpPr/>
          <p:nvPr/>
        </p:nvGrpSpPr>
        <p:grpSpPr>
          <a:xfrm>
            <a:off x="1332998" y="4868116"/>
            <a:ext cx="3599335" cy="1325491"/>
            <a:chOff x="1429864" y="4405020"/>
            <a:chExt cx="3599335" cy="1325491"/>
          </a:xfrm>
        </p:grpSpPr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5D3EB87B-E4E4-49E0-8C9A-2D099B601CC4}"/>
                </a:ext>
              </a:extLst>
            </p:cNvPr>
            <p:cNvSpPr txBox="1"/>
            <p:nvPr/>
          </p:nvSpPr>
          <p:spPr>
            <a:xfrm>
              <a:off x="1661628" y="4405020"/>
              <a:ext cx="3367571" cy="13254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위치 정보 부재</a:t>
              </a:r>
              <a:r>
                <a:rPr lang="en-US" altLang="ko-KR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rgbClr val="4D4D4D">
                      <a:alpha val="61961"/>
                    </a:srgbClr>
                  </a:solidFill>
                  <a:latin typeface="+mj-ea"/>
                  <a:ea typeface="+mj-ea"/>
                  <a:cs typeface="JASO Sans"/>
                  <a:sym typeface="JASO Sans"/>
                </a:rPr>
                <a:t>어떤 재질의 물건이 어디에 있는지 모름</a:t>
              </a: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639B9D9-334D-44F3-8513-DD4D28C356DC}"/>
                </a:ext>
              </a:extLst>
            </p:cNvPr>
            <p:cNvSpPr/>
            <p:nvPr/>
          </p:nvSpPr>
          <p:spPr>
            <a:xfrm>
              <a:off x="1429864" y="4610100"/>
              <a:ext cx="103962" cy="990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CF7FB4A-4B8C-4C28-9DFB-B011234FE6EA}"/>
              </a:ext>
            </a:extLst>
          </p:cNvPr>
          <p:cNvGrpSpPr/>
          <p:nvPr/>
        </p:nvGrpSpPr>
        <p:grpSpPr>
          <a:xfrm>
            <a:off x="1332998" y="6404744"/>
            <a:ext cx="3599335" cy="863826"/>
            <a:chOff x="1429864" y="4405020"/>
            <a:chExt cx="3599335" cy="863826"/>
          </a:xfrm>
        </p:grpSpPr>
        <p:sp>
          <p:nvSpPr>
            <p:cNvPr id="37" name="TextBox 34">
              <a:extLst>
                <a:ext uri="{FF2B5EF4-FFF2-40B4-BE49-F238E27FC236}">
                  <a16:creationId xmlns:a16="http://schemas.microsoft.com/office/drawing/2014/main" id="{820476CA-A291-40C1-917C-7C1647238A31}"/>
                </a:ext>
              </a:extLst>
            </p:cNvPr>
            <p:cNvSpPr txBox="1"/>
            <p:nvPr/>
          </p:nvSpPr>
          <p:spPr>
            <a:xfrm>
              <a:off x="1661628" y="4405020"/>
              <a:ext cx="3367571" cy="8638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선택적 출고 불가</a:t>
              </a:r>
              <a:endParaRPr lang="en-US" altLang="ko-KR" sz="2000" b="1" dirty="0">
                <a:solidFill>
                  <a:schemeClr val="tx1">
                    <a:alpha val="61961"/>
                  </a:schemeClr>
                </a:solidFill>
                <a:latin typeface="+mj-ea"/>
                <a:ea typeface="+mj-ea"/>
                <a:cs typeface="JASO Sans"/>
                <a:sym typeface="JASO Sans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rgbClr val="4D4D4D">
                      <a:alpha val="61961"/>
                    </a:srgbClr>
                  </a:solidFill>
                  <a:latin typeface="+mj-ea"/>
                  <a:ea typeface="+mj-ea"/>
                  <a:cs typeface="JASO Sans"/>
                  <a:sym typeface="JASO Sans"/>
                </a:rPr>
                <a:t>특정 조건 검색이 어려움</a:t>
              </a: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2DE6DE1-8E92-4635-892D-EC74856A7B92}"/>
                </a:ext>
              </a:extLst>
            </p:cNvPr>
            <p:cNvSpPr/>
            <p:nvPr/>
          </p:nvSpPr>
          <p:spPr>
            <a:xfrm>
              <a:off x="1429864" y="4610100"/>
              <a:ext cx="103962" cy="990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9" name="TextBox 30">
            <a:extLst>
              <a:ext uri="{FF2B5EF4-FFF2-40B4-BE49-F238E27FC236}">
                <a16:creationId xmlns:a16="http://schemas.microsoft.com/office/drawing/2014/main" id="{BEE5AA6D-763C-4614-A929-07BDEFF164E9}"/>
              </a:ext>
            </a:extLst>
          </p:cNvPr>
          <p:cNvSpPr txBox="1"/>
          <p:nvPr/>
        </p:nvSpPr>
        <p:spPr>
          <a:xfrm>
            <a:off x="8229432" y="2851345"/>
            <a:ext cx="2752861" cy="38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13"/>
              </a:lnSpc>
            </a:pPr>
            <a:r>
              <a:rPr lang="ko-KR" altLang="en-US" sz="2620" b="1" spc="-92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개선 목표</a:t>
            </a:r>
            <a:endParaRPr lang="en-US" sz="2620" b="1" spc="-92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074F9E7-3B6A-4A33-AB5C-C0378194999E}"/>
              </a:ext>
            </a:extLst>
          </p:cNvPr>
          <p:cNvGrpSpPr/>
          <p:nvPr/>
        </p:nvGrpSpPr>
        <p:grpSpPr>
          <a:xfrm>
            <a:off x="7997517" y="3616187"/>
            <a:ext cx="3599335" cy="862480"/>
            <a:chOff x="1429864" y="4405020"/>
            <a:chExt cx="3599335" cy="862480"/>
          </a:xfrm>
        </p:grpSpPr>
        <p:sp>
          <p:nvSpPr>
            <p:cNvPr id="61" name="TextBox 34">
              <a:extLst>
                <a:ext uri="{FF2B5EF4-FFF2-40B4-BE49-F238E27FC236}">
                  <a16:creationId xmlns:a16="http://schemas.microsoft.com/office/drawing/2014/main" id="{3CC52169-A9A2-4AB0-9FA5-B48757F85955}"/>
                </a:ext>
              </a:extLst>
            </p:cNvPr>
            <p:cNvSpPr txBox="1"/>
            <p:nvPr/>
          </p:nvSpPr>
          <p:spPr>
            <a:xfrm>
              <a:off x="1661628" y="4405020"/>
              <a:ext cx="3367571" cy="8624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위치</a:t>
              </a:r>
              <a:r>
                <a:rPr lang="en-US" altLang="ko-KR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(Location) </a:t>
              </a:r>
              <a:r>
                <a:rPr lang="ko-KR" altLang="en-US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관리 </a:t>
              </a:r>
              <a:endParaRPr lang="en-US" altLang="ko-KR" sz="2000" b="1" dirty="0">
                <a:solidFill>
                  <a:schemeClr val="tx1">
                    <a:alpha val="61961"/>
                  </a:schemeClr>
                </a:solidFill>
                <a:latin typeface="+mj-ea"/>
                <a:ea typeface="+mj-ea"/>
                <a:cs typeface="JASO Sans"/>
                <a:sym typeface="JASO Sans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rgbClr val="4D4D4D">
                      <a:alpha val="61961"/>
                    </a:srgbClr>
                  </a:solidFill>
                  <a:latin typeface="+mj-ea"/>
                  <a:ea typeface="+mj-ea"/>
                  <a:cs typeface="JASO Sans"/>
                  <a:sym typeface="JASO Sans"/>
                </a:rPr>
                <a:t>정확한 적재 위치 추적</a:t>
              </a: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9FED018C-3C39-4B33-B0F8-9CCC1CAA36EA}"/>
                </a:ext>
              </a:extLst>
            </p:cNvPr>
            <p:cNvSpPr/>
            <p:nvPr/>
          </p:nvSpPr>
          <p:spPr>
            <a:xfrm>
              <a:off x="1429864" y="4610100"/>
              <a:ext cx="103962" cy="990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5252CE8-B3E8-473F-B6F5-03AE5019784C}"/>
              </a:ext>
            </a:extLst>
          </p:cNvPr>
          <p:cNvGrpSpPr/>
          <p:nvPr/>
        </p:nvGrpSpPr>
        <p:grpSpPr>
          <a:xfrm>
            <a:off x="7984817" y="4842745"/>
            <a:ext cx="3599335" cy="863826"/>
            <a:chOff x="1429864" y="4405020"/>
            <a:chExt cx="3599335" cy="863826"/>
          </a:xfrm>
        </p:grpSpPr>
        <p:sp>
          <p:nvSpPr>
            <p:cNvPr id="64" name="TextBox 34">
              <a:extLst>
                <a:ext uri="{FF2B5EF4-FFF2-40B4-BE49-F238E27FC236}">
                  <a16:creationId xmlns:a16="http://schemas.microsoft.com/office/drawing/2014/main" id="{731029C6-B1BD-4B2A-8C35-F237D3FD195E}"/>
                </a:ext>
              </a:extLst>
            </p:cNvPr>
            <p:cNvSpPr txBox="1"/>
            <p:nvPr/>
          </p:nvSpPr>
          <p:spPr>
            <a:xfrm>
              <a:off x="1661628" y="4405020"/>
              <a:ext cx="3367571" cy="8638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재질</a:t>
              </a:r>
              <a:r>
                <a:rPr lang="en-US" altLang="ko-KR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(Attribute) </a:t>
              </a:r>
              <a:r>
                <a:rPr lang="ko-KR" altLang="en-US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관리 </a:t>
              </a:r>
              <a:endParaRPr lang="en-US" altLang="ko-KR" sz="2000" b="1" dirty="0">
                <a:solidFill>
                  <a:schemeClr val="tx1">
                    <a:alpha val="61961"/>
                  </a:schemeClr>
                </a:solidFill>
                <a:latin typeface="+mj-ea"/>
                <a:ea typeface="+mj-ea"/>
                <a:cs typeface="JASO Sans"/>
                <a:sym typeface="JASO Sans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rgbClr val="4D4D4D">
                      <a:alpha val="61961"/>
                    </a:srgbClr>
                  </a:solidFill>
                  <a:latin typeface="+mj-ea"/>
                  <a:ea typeface="+mj-ea"/>
                  <a:cs typeface="JASO Sans"/>
                  <a:sym typeface="JASO Sans"/>
                </a:rPr>
                <a:t>재질 등 상세 정모 매핑</a:t>
              </a:r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6C12C58C-FEA6-4745-A29C-BA19491C39E6}"/>
                </a:ext>
              </a:extLst>
            </p:cNvPr>
            <p:cNvSpPr/>
            <p:nvPr/>
          </p:nvSpPr>
          <p:spPr>
            <a:xfrm>
              <a:off x="1429864" y="4610100"/>
              <a:ext cx="103962" cy="990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9CFAE098-654E-40C7-A7B5-2E6C1CBF7BD3}"/>
              </a:ext>
            </a:extLst>
          </p:cNvPr>
          <p:cNvGrpSpPr/>
          <p:nvPr/>
        </p:nvGrpSpPr>
        <p:grpSpPr>
          <a:xfrm>
            <a:off x="7984817" y="6053358"/>
            <a:ext cx="3599335" cy="1325491"/>
            <a:chOff x="1429864" y="4405020"/>
            <a:chExt cx="3599335" cy="1325491"/>
          </a:xfrm>
        </p:grpSpPr>
        <p:sp>
          <p:nvSpPr>
            <p:cNvPr id="67" name="TextBox 34">
              <a:extLst>
                <a:ext uri="{FF2B5EF4-FFF2-40B4-BE49-F238E27FC236}">
                  <a16:creationId xmlns:a16="http://schemas.microsoft.com/office/drawing/2014/main" id="{4ED17F56-A34B-4D94-ADB6-6FC6A76A6B57}"/>
                </a:ext>
              </a:extLst>
            </p:cNvPr>
            <p:cNvSpPr txBox="1"/>
            <p:nvPr/>
          </p:nvSpPr>
          <p:spPr>
            <a:xfrm>
              <a:off x="1661628" y="4405020"/>
              <a:ext cx="3367571" cy="13254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chemeClr val="tx1">
                      <a:alpha val="61961"/>
                    </a:schemeClr>
                  </a:solidFill>
                  <a:latin typeface="+mj-ea"/>
                  <a:ea typeface="+mj-ea"/>
                  <a:cs typeface="JASO Sans"/>
                  <a:sym typeface="JASO Sans"/>
                </a:rPr>
                <a:t>조건부 제어</a:t>
              </a:r>
              <a:endParaRPr lang="en-US" altLang="ko-KR" sz="2000" b="1" dirty="0">
                <a:solidFill>
                  <a:schemeClr val="tx1">
                    <a:alpha val="61961"/>
                  </a:schemeClr>
                </a:solidFill>
                <a:latin typeface="+mj-ea"/>
                <a:ea typeface="+mj-ea"/>
                <a:cs typeface="JASO Sans"/>
                <a:sym typeface="JASO Sans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rgbClr val="4D4D4D">
                      <a:alpha val="61961"/>
                    </a:srgbClr>
                  </a:solidFill>
                  <a:latin typeface="+mj-ea"/>
                  <a:ea typeface="+mj-ea"/>
                  <a:cs typeface="JASO Sans"/>
                  <a:sym typeface="JASO Sans"/>
                </a:rPr>
                <a:t>원하는 조건의 물품 검색 및 제어</a:t>
              </a:r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F9181F82-4E85-462F-95C1-7FE59AB42D4E}"/>
                </a:ext>
              </a:extLst>
            </p:cNvPr>
            <p:cNvSpPr/>
            <p:nvPr/>
          </p:nvSpPr>
          <p:spPr>
            <a:xfrm>
              <a:off x="1429864" y="4610100"/>
              <a:ext cx="103962" cy="990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537D394-9394-47F9-991E-1F8877042959}"/>
              </a:ext>
            </a:extLst>
          </p:cNvPr>
          <p:cNvCxnSpPr/>
          <p:nvPr/>
        </p:nvCxnSpPr>
        <p:spPr>
          <a:xfrm flipV="1">
            <a:off x="6207842" y="5116264"/>
            <a:ext cx="1066800" cy="25371"/>
          </a:xfrm>
          <a:prstGeom prst="straightConnector1">
            <a:avLst/>
          </a:prstGeom>
          <a:ln w="127000">
            <a:headEnd w="lg" len="lg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순서도: 수행의 시작/종료 69">
            <a:extLst>
              <a:ext uri="{FF2B5EF4-FFF2-40B4-BE49-F238E27FC236}">
                <a16:creationId xmlns:a16="http://schemas.microsoft.com/office/drawing/2014/main" id="{96CAAA02-0FE8-42D6-AD59-7BC2173B0D0D}"/>
              </a:ext>
            </a:extLst>
          </p:cNvPr>
          <p:cNvSpPr/>
          <p:nvPr/>
        </p:nvSpPr>
        <p:spPr>
          <a:xfrm>
            <a:off x="1646534" y="8366416"/>
            <a:ext cx="4160509" cy="1208301"/>
          </a:xfrm>
          <a:prstGeom prst="flowChartTerminator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순서도: 수행의 시작/종료 70">
            <a:extLst>
              <a:ext uri="{FF2B5EF4-FFF2-40B4-BE49-F238E27FC236}">
                <a16:creationId xmlns:a16="http://schemas.microsoft.com/office/drawing/2014/main" id="{F122ACEE-44DB-420E-A9C1-19A2F7C57DB2}"/>
              </a:ext>
            </a:extLst>
          </p:cNvPr>
          <p:cNvSpPr/>
          <p:nvPr/>
        </p:nvSpPr>
        <p:spPr>
          <a:xfrm>
            <a:off x="4439188" y="8366418"/>
            <a:ext cx="5924012" cy="1208301"/>
          </a:xfrm>
          <a:prstGeom prst="flowChartTerminator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순서도: 수행의 시작/종료 71">
            <a:extLst>
              <a:ext uri="{FF2B5EF4-FFF2-40B4-BE49-F238E27FC236}">
                <a16:creationId xmlns:a16="http://schemas.microsoft.com/office/drawing/2014/main" id="{FB46D065-B5B4-4667-B873-AADD6F9DA268}"/>
              </a:ext>
            </a:extLst>
          </p:cNvPr>
          <p:cNvSpPr/>
          <p:nvPr/>
        </p:nvSpPr>
        <p:spPr>
          <a:xfrm>
            <a:off x="8393941" y="8366417"/>
            <a:ext cx="4160509" cy="1208301"/>
          </a:xfrm>
          <a:prstGeom prst="flowChartTerminator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60C6B7-F26C-4C99-8F7F-707DD82DE887}"/>
              </a:ext>
            </a:extLst>
          </p:cNvPr>
          <p:cNvSpPr txBox="1"/>
          <p:nvPr/>
        </p:nvSpPr>
        <p:spPr>
          <a:xfrm>
            <a:off x="1829333" y="8712322"/>
            <a:ext cx="116580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</a:rPr>
              <a:t>효율적 데이터 관리를 위해 </a:t>
            </a:r>
            <a:r>
              <a:rPr lang="ko-KR" altLang="en-US" sz="2800" b="1" dirty="0">
                <a:solidFill>
                  <a:schemeClr val="bg1"/>
                </a:solidFill>
              </a:rPr>
              <a:t>배열</a:t>
            </a:r>
            <a:r>
              <a:rPr lang="en-US" altLang="ko-KR" sz="2800" b="1" dirty="0">
                <a:solidFill>
                  <a:schemeClr val="bg1"/>
                </a:solidFill>
              </a:rPr>
              <a:t>(Array) </a:t>
            </a:r>
            <a:r>
              <a:rPr lang="ko-KR" altLang="en-US" sz="2800" dirty="0">
                <a:solidFill>
                  <a:schemeClr val="bg1"/>
                </a:solidFill>
              </a:rPr>
              <a:t>및 </a:t>
            </a:r>
            <a:r>
              <a:rPr lang="ko-KR" altLang="en-US" sz="2800" b="1" dirty="0">
                <a:solidFill>
                  <a:schemeClr val="bg1"/>
                </a:solidFill>
              </a:rPr>
              <a:t>구조체</a:t>
            </a:r>
            <a:r>
              <a:rPr lang="en-US" altLang="ko-KR" sz="2800" b="1" dirty="0">
                <a:solidFill>
                  <a:schemeClr val="bg1"/>
                </a:solidFill>
              </a:rPr>
              <a:t>(Struct) </a:t>
            </a:r>
            <a:r>
              <a:rPr lang="ko-KR" altLang="en-US" sz="2800" dirty="0">
                <a:solidFill>
                  <a:schemeClr val="bg1"/>
                </a:solidFill>
              </a:rPr>
              <a:t>개념 도입</a:t>
            </a:r>
          </a:p>
          <a:p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016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71" y="1050861"/>
            <a:ext cx="6856462" cy="575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메모리 주소 할당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03E77BD-D73E-4875-B553-F1DA2758B87D}"/>
              </a:ext>
            </a:extLst>
          </p:cNvPr>
          <p:cNvGrpSpPr/>
          <p:nvPr/>
        </p:nvGrpSpPr>
        <p:grpSpPr>
          <a:xfrm>
            <a:off x="7210114" y="2796444"/>
            <a:ext cx="2737821" cy="2170078"/>
            <a:chOff x="4571999" y="1229798"/>
            <a:chExt cx="4114801" cy="3494602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899509C2-8098-4118-BA5B-6761F14B69E3}"/>
                </a:ext>
              </a:extLst>
            </p:cNvPr>
            <p:cNvSpPr/>
            <p:nvPr/>
          </p:nvSpPr>
          <p:spPr>
            <a:xfrm>
              <a:off x="4572000" y="2133600"/>
              <a:ext cx="4114800" cy="2590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3FB3DEF-B2AD-41B5-8C16-D811CCC03762}"/>
                </a:ext>
              </a:extLst>
            </p:cNvPr>
            <p:cNvSpPr/>
            <p:nvPr/>
          </p:nvSpPr>
          <p:spPr>
            <a:xfrm>
              <a:off x="4571999" y="1229798"/>
              <a:ext cx="4114800" cy="90380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latinLnBrk="1"/>
              <a:r>
                <a:rPr lang="en-US" altLang="ko-KR" sz="3000" dirty="0">
                  <a:solidFill>
                    <a:prstClr val="white"/>
                  </a:solidFill>
                </a:rPr>
                <a:t>D31 [3,1]</a:t>
              </a:r>
              <a:endParaRPr lang="ko-KR" altLang="en-US" sz="3000" dirty="0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397DA7A-D066-4A44-8EB0-5B2E48A4CBF9}"/>
                </a:ext>
              </a:extLst>
            </p:cNvPr>
            <p:cNvSpPr/>
            <p:nvPr/>
          </p:nvSpPr>
          <p:spPr>
            <a:xfrm>
              <a:off x="4953000" y="2400934"/>
              <a:ext cx="3352799" cy="9906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+mj-ea"/>
                  <a:ea typeface="+mj-ea"/>
                </a:rPr>
                <a:t>위치 값</a:t>
              </a:r>
              <a:r>
                <a:rPr lang="en-US" altLang="ko-KR" sz="2000" dirty="0">
                  <a:solidFill>
                    <a:schemeClr val="tx1"/>
                  </a:solidFill>
                  <a:latin typeface="+mj-ea"/>
                  <a:ea typeface="+mj-ea"/>
                </a:rPr>
                <a:t>(D31): K31</a:t>
              </a:r>
              <a:endParaRPr lang="ko-KR" altLang="en-US" sz="2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8722734-1B91-47FB-923E-B4672D85690B}"/>
                </a:ext>
              </a:extLst>
            </p:cNvPr>
            <p:cNvSpPr/>
            <p:nvPr/>
          </p:nvSpPr>
          <p:spPr>
            <a:xfrm>
              <a:off x="4953000" y="3391535"/>
              <a:ext cx="3352799" cy="990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+mn-ea"/>
                </a:rPr>
                <a:t>재질 값</a:t>
              </a:r>
              <a:r>
                <a:rPr lang="en-US" altLang="ko-KR" sz="1600" dirty="0">
                  <a:latin typeface="+mn-ea"/>
                </a:rPr>
                <a:t>(D33): 0, 1, 2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A9AE327-F384-4270-ACF5-06C592A7FD69}"/>
              </a:ext>
            </a:extLst>
          </p:cNvPr>
          <p:cNvGrpSpPr/>
          <p:nvPr/>
        </p:nvGrpSpPr>
        <p:grpSpPr>
          <a:xfrm>
            <a:off x="9947931" y="2796444"/>
            <a:ext cx="2737821" cy="2170078"/>
            <a:chOff x="4571999" y="1229798"/>
            <a:chExt cx="4114801" cy="3494602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1D7D1B1-3445-443F-8A07-92F9A5A15118}"/>
                </a:ext>
              </a:extLst>
            </p:cNvPr>
            <p:cNvSpPr/>
            <p:nvPr/>
          </p:nvSpPr>
          <p:spPr>
            <a:xfrm>
              <a:off x="4572000" y="2133600"/>
              <a:ext cx="4114800" cy="2590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4FB6682-FB3A-488D-BFBC-15739A9C0E8B}"/>
                </a:ext>
              </a:extLst>
            </p:cNvPr>
            <p:cNvSpPr/>
            <p:nvPr/>
          </p:nvSpPr>
          <p:spPr>
            <a:xfrm>
              <a:off x="4571999" y="1229798"/>
              <a:ext cx="4114800" cy="90380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latinLnBrk="1"/>
              <a:r>
                <a:rPr lang="en-US" altLang="ko-KR" sz="3000" dirty="0">
                  <a:solidFill>
                    <a:prstClr val="white"/>
                  </a:solidFill>
                </a:rPr>
                <a:t>D32 [3,2]</a:t>
              </a:r>
              <a:endParaRPr lang="ko-KR" altLang="en-US" sz="3000" dirty="0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08044B3F-AB31-455B-923B-DBDDC44D55F3}"/>
                </a:ext>
              </a:extLst>
            </p:cNvPr>
            <p:cNvSpPr/>
            <p:nvPr/>
          </p:nvSpPr>
          <p:spPr>
            <a:xfrm>
              <a:off x="4953000" y="2400934"/>
              <a:ext cx="3352799" cy="9906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+mj-ea"/>
                  <a:ea typeface="+mj-ea"/>
                </a:rPr>
                <a:t>위치 값</a:t>
              </a:r>
              <a:r>
                <a:rPr lang="en-US" altLang="ko-KR" sz="2000" dirty="0">
                  <a:solidFill>
                    <a:schemeClr val="tx1"/>
                  </a:solidFill>
                  <a:latin typeface="+mj-ea"/>
                  <a:ea typeface="+mj-ea"/>
                </a:rPr>
                <a:t>(D32): K32</a:t>
              </a:r>
              <a:endParaRPr lang="ko-KR" altLang="en-US" sz="2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F97FF57-CFE8-4ED2-9796-C5CE696DF03A}"/>
                </a:ext>
              </a:extLst>
            </p:cNvPr>
            <p:cNvSpPr/>
            <p:nvPr/>
          </p:nvSpPr>
          <p:spPr>
            <a:xfrm>
              <a:off x="4953000" y="3391535"/>
              <a:ext cx="3352799" cy="990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+mn-ea"/>
                </a:rPr>
                <a:t>재질 값</a:t>
              </a:r>
              <a:r>
                <a:rPr lang="en-US" altLang="ko-KR" sz="1600" dirty="0">
                  <a:latin typeface="+mn-ea"/>
                </a:rPr>
                <a:t>(D34): 0, 1, 2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8DF136C-2A73-44E1-984F-B26279A8CB10}"/>
              </a:ext>
            </a:extLst>
          </p:cNvPr>
          <p:cNvGrpSpPr/>
          <p:nvPr/>
        </p:nvGrpSpPr>
        <p:grpSpPr>
          <a:xfrm>
            <a:off x="7210111" y="4980842"/>
            <a:ext cx="2737821" cy="2170078"/>
            <a:chOff x="4571999" y="1229798"/>
            <a:chExt cx="4114801" cy="3494602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4720FC32-8F73-403F-8BDA-93C1DA0D6EF1}"/>
                </a:ext>
              </a:extLst>
            </p:cNvPr>
            <p:cNvSpPr/>
            <p:nvPr/>
          </p:nvSpPr>
          <p:spPr>
            <a:xfrm>
              <a:off x="4572000" y="2133600"/>
              <a:ext cx="4114800" cy="2590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24001A0-1286-41BE-B8C7-2B29C6B6DAF3}"/>
                </a:ext>
              </a:extLst>
            </p:cNvPr>
            <p:cNvSpPr/>
            <p:nvPr/>
          </p:nvSpPr>
          <p:spPr>
            <a:xfrm>
              <a:off x="4571999" y="1229798"/>
              <a:ext cx="4114800" cy="90380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latinLnBrk="1"/>
              <a:r>
                <a:rPr lang="en-US" altLang="ko-KR" sz="3000" dirty="0">
                  <a:solidFill>
                    <a:prstClr val="white"/>
                  </a:solidFill>
                </a:rPr>
                <a:t>D21 [2,1]</a:t>
              </a:r>
              <a:endParaRPr lang="ko-KR" altLang="en-US" sz="3000" dirty="0">
                <a:solidFill>
                  <a:prstClr val="white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AA5FBD7C-90FE-4FEC-83EA-6A4D2968F69D}"/>
                </a:ext>
              </a:extLst>
            </p:cNvPr>
            <p:cNvSpPr/>
            <p:nvPr/>
          </p:nvSpPr>
          <p:spPr>
            <a:xfrm>
              <a:off x="4953000" y="2400934"/>
              <a:ext cx="3352799" cy="9906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+mj-ea"/>
                  <a:ea typeface="+mj-ea"/>
                </a:rPr>
                <a:t>위치 값</a:t>
              </a:r>
              <a:r>
                <a:rPr lang="en-US" altLang="ko-KR" sz="2000" dirty="0">
                  <a:solidFill>
                    <a:schemeClr val="tx1"/>
                  </a:solidFill>
                  <a:latin typeface="+mj-ea"/>
                  <a:ea typeface="+mj-ea"/>
                </a:rPr>
                <a:t>(D21): K21</a:t>
              </a:r>
              <a:endParaRPr lang="ko-KR" altLang="en-US" sz="2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A65AE07-BE9D-436D-B36D-E94FB668BEEB}"/>
                </a:ext>
              </a:extLst>
            </p:cNvPr>
            <p:cNvSpPr/>
            <p:nvPr/>
          </p:nvSpPr>
          <p:spPr>
            <a:xfrm>
              <a:off x="4953000" y="3391535"/>
              <a:ext cx="3352799" cy="990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+mn-ea"/>
                </a:rPr>
                <a:t>재질 값</a:t>
              </a:r>
              <a:r>
                <a:rPr lang="en-US" altLang="ko-KR" sz="1600" dirty="0">
                  <a:latin typeface="+mn-ea"/>
                </a:rPr>
                <a:t>(D23): 0, 1, 2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7DD2D2A-5261-44A4-9270-06B99D7C331B}"/>
              </a:ext>
            </a:extLst>
          </p:cNvPr>
          <p:cNvGrpSpPr/>
          <p:nvPr/>
        </p:nvGrpSpPr>
        <p:grpSpPr>
          <a:xfrm>
            <a:off x="9947928" y="4980842"/>
            <a:ext cx="2737821" cy="2170078"/>
            <a:chOff x="4571999" y="1229798"/>
            <a:chExt cx="4114801" cy="3494602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EE8C95D-FC61-48E5-9846-1EF6B28669B0}"/>
                </a:ext>
              </a:extLst>
            </p:cNvPr>
            <p:cNvSpPr/>
            <p:nvPr/>
          </p:nvSpPr>
          <p:spPr>
            <a:xfrm>
              <a:off x="4572000" y="2133600"/>
              <a:ext cx="4114800" cy="2590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4637881-D53A-4DFC-A2F7-BD52339A41A4}"/>
                </a:ext>
              </a:extLst>
            </p:cNvPr>
            <p:cNvSpPr/>
            <p:nvPr/>
          </p:nvSpPr>
          <p:spPr>
            <a:xfrm>
              <a:off x="4571999" y="1229798"/>
              <a:ext cx="4114800" cy="90380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latinLnBrk="1"/>
              <a:r>
                <a:rPr lang="en-US" altLang="ko-KR" sz="3600" dirty="0">
                  <a:solidFill>
                    <a:prstClr val="white"/>
                  </a:solidFill>
                </a:rPr>
                <a:t>D22 [2,2]</a:t>
              </a:r>
              <a:endParaRPr lang="ko-KR" altLang="en-US" sz="3600" dirty="0">
                <a:solidFill>
                  <a:prstClr val="white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2020AA3-5301-4692-99FB-C0C72C0A3B19}"/>
                </a:ext>
              </a:extLst>
            </p:cNvPr>
            <p:cNvSpPr/>
            <p:nvPr/>
          </p:nvSpPr>
          <p:spPr>
            <a:xfrm>
              <a:off x="4953000" y="2400934"/>
              <a:ext cx="3352799" cy="9906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+mj-ea"/>
                  <a:ea typeface="+mj-ea"/>
                </a:rPr>
                <a:t>위치 값</a:t>
              </a:r>
              <a:r>
                <a:rPr lang="en-US" altLang="ko-KR" sz="2000" dirty="0">
                  <a:solidFill>
                    <a:schemeClr val="tx1"/>
                  </a:solidFill>
                  <a:latin typeface="+mj-ea"/>
                  <a:ea typeface="+mj-ea"/>
                </a:rPr>
                <a:t>(D22): K22</a:t>
              </a:r>
              <a:endParaRPr lang="ko-KR" altLang="en-US" sz="2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0BBBD52-6E88-4BBB-BE1C-9A67B0CF77A1}"/>
                </a:ext>
              </a:extLst>
            </p:cNvPr>
            <p:cNvSpPr/>
            <p:nvPr/>
          </p:nvSpPr>
          <p:spPr>
            <a:xfrm>
              <a:off x="4953000" y="3391535"/>
              <a:ext cx="3352799" cy="990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+mn-ea"/>
                </a:rPr>
                <a:t>재질 값</a:t>
              </a:r>
              <a:r>
                <a:rPr lang="en-US" altLang="ko-KR" sz="1600" dirty="0">
                  <a:latin typeface="+mn-ea"/>
                </a:rPr>
                <a:t>(D24): 0, 1, 2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A0342C14-958B-4E78-B0F9-6445B63E30D0}"/>
              </a:ext>
            </a:extLst>
          </p:cNvPr>
          <p:cNvGrpSpPr/>
          <p:nvPr/>
        </p:nvGrpSpPr>
        <p:grpSpPr>
          <a:xfrm>
            <a:off x="7210111" y="7179061"/>
            <a:ext cx="2737821" cy="2170078"/>
            <a:chOff x="4571999" y="1229798"/>
            <a:chExt cx="4114801" cy="3494602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874BE2B7-8B71-47E3-B8AE-CB0466944B8C}"/>
                </a:ext>
              </a:extLst>
            </p:cNvPr>
            <p:cNvSpPr/>
            <p:nvPr/>
          </p:nvSpPr>
          <p:spPr>
            <a:xfrm>
              <a:off x="4572000" y="2133600"/>
              <a:ext cx="4114800" cy="2590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FF5973AC-F116-4687-8E3A-0EFD0D62228A}"/>
                </a:ext>
              </a:extLst>
            </p:cNvPr>
            <p:cNvSpPr/>
            <p:nvPr/>
          </p:nvSpPr>
          <p:spPr>
            <a:xfrm>
              <a:off x="4571999" y="1229798"/>
              <a:ext cx="4114800" cy="90380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latinLnBrk="1"/>
              <a:r>
                <a:rPr lang="en-US" altLang="ko-KR" sz="3000" dirty="0">
                  <a:solidFill>
                    <a:prstClr val="white"/>
                  </a:solidFill>
                </a:rPr>
                <a:t>D11 [1,1]</a:t>
              </a:r>
              <a:endParaRPr lang="ko-KR" altLang="en-US" sz="3000" dirty="0">
                <a:solidFill>
                  <a:prstClr val="white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26D7CC8E-4A7E-4348-82F4-10077BA7D783}"/>
                </a:ext>
              </a:extLst>
            </p:cNvPr>
            <p:cNvSpPr/>
            <p:nvPr/>
          </p:nvSpPr>
          <p:spPr>
            <a:xfrm>
              <a:off x="4953000" y="2400934"/>
              <a:ext cx="3352799" cy="9906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+mj-ea"/>
                  <a:ea typeface="+mj-ea"/>
                </a:rPr>
                <a:t>위치 값</a:t>
              </a:r>
              <a:r>
                <a:rPr lang="en-US" altLang="ko-KR" sz="2000" dirty="0">
                  <a:solidFill>
                    <a:schemeClr val="tx1"/>
                  </a:solidFill>
                  <a:latin typeface="+mj-ea"/>
                  <a:ea typeface="+mj-ea"/>
                </a:rPr>
                <a:t>(D11): K11</a:t>
              </a:r>
              <a:endParaRPr lang="ko-KR" altLang="en-US" sz="2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2F91D45F-8D53-4E95-B152-8F8E41CF60E6}"/>
                </a:ext>
              </a:extLst>
            </p:cNvPr>
            <p:cNvSpPr/>
            <p:nvPr/>
          </p:nvSpPr>
          <p:spPr>
            <a:xfrm>
              <a:off x="4953000" y="3391535"/>
              <a:ext cx="3352799" cy="990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+mn-ea"/>
                </a:rPr>
                <a:t>재질 값</a:t>
              </a:r>
              <a:r>
                <a:rPr lang="en-US" altLang="ko-KR" sz="1600" dirty="0">
                  <a:latin typeface="+mn-ea"/>
                </a:rPr>
                <a:t>(D13): 0, 1, 2</a:t>
              </a: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49C2732-7E29-423A-9A1E-118AC3C73022}"/>
              </a:ext>
            </a:extLst>
          </p:cNvPr>
          <p:cNvGrpSpPr/>
          <p:nvPr/>
        </p:nvGrpSpPr>
        <p:grpSpPr>
          <a:xfrm>
            <a:off x="9947928" y="7179061"/>
            <a:ext cx="2737821" cy="2170078"/>
            <a:chOff x="4571999" y="1229798"/>
            <a:chExt cx="4114801" cy="3494602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22AFFC66-DB23-4163-A297-D5548EFE4CA3}"/>
                </a:ext>
              </a:extLst>
            </p:cNvPr>
            <p:cNvSpPr/>
            <p:nvPr/>
          </p:nvSpPr>
          <p:spPr>
            <a:xfrm>
              <a:off x="4572000" y="2133600"/>
              <a:ext cx="4114800" cy="2590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AEF9AEF0-FC8B-465D-9F9F-84C7DB5F8C9D}"/>
                </a:ext>
              </a:extLst>
            </p:cNvPr>
            <p:cNvSpPr/>
            <p:nvPr/>
          </p:nvSpPr>
          <p:spPr>
            <a:xfrm>
              <a:off x="4571999" y="1229798"/>
              <a:ext cx="4114800" cy="90380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latinLnBrk="1"/>
              <a:r>
                <a:rPr lang="en-US" altLang="ko-KR" sz="3000" dirty="0">
                  <a:solidFill>
                    <a:prstClr val="white"/>
                  </a:solidFill>
                </a:rPr>
                <a:t>D12 [1,2]</a:t>
              </a:r>
              <a:endParaRPr lang="ko-KR" altLang="en-US" sz="3000" dirty="0">
                <a:solidFill>
                  <a:prstClr val="white"/>
                </a:solidFill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E277AB01-EBB6-4955-ABCA-FE097DD25464}"/>
                </a:ext>
              </a:extLst>
            </p:cNvPr>
            <p:cNvSpPr/>
            <p:nvPr/>
          </p:nvSpPr>
          <p:spPr>
            <a:xfrm>
              <a:off x="4953000" y="2400934"/>
              <a:ext cx="3352799" cy="9906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+mj-ea"/>
                  <a:ea typeface="+mj-ea"/>
                </a:rPr>
                <a:t>위치 값</a:t>
              </a:r>
              <a:r>
                <a:rPr lang="en-US" altLang="ko-KR" sz="2000" dirty="0">
                  <a:solidFill>
                    <a:schemeClr val="tx1"/>
                  </a:solidFill>
                  <a:latin typeface="+mj-ea"/>
                  <a:ea typeface="+mj-ea"/>
                </a:rPr>
                <a:t>(D12): K12</a:t>
              </a:r>
              <a:endParaRPr lang="ko-KR" altLang="en-US" sz="2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DFAD2840-E332-4EB5-96F2-D0135B563C5B}"/>
                </a:ext>
              </a:extLst>
            </p:cNvPr>
            <p:cNvSpPr/>
            <p:nvPr/>
          </p:nvSpPr>
          <p:spPr>
            <a:xfrm>
              <a:off x="4953000" y="3391535"/>
              <a:ext cx="3352799" cy="990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+mn-ea"/>
                </a:rPr>
                <a:t>재질 값</a:t>
              </a:r>
              <a:r>
                <a:rPr lang="en-US" altLang="ko-KR" sz="1600" dirty="0">
                  <a:latin typeface="+mn-ea"/>
                </a:rPr>
                <a:t>(D14): 0, 1, 2</a:t>
              </a:r>
            </a:p>
          </p:txBody>
        </p:sp>
      </p:grpSp>
      <p:pic>
        <p:nvPicPr>
          <p:cNvPr id="83" name="그림 82">
            <a:extLst>
              <a:ext uri="{FF2B5EF4-FFF2-40B4-BE49-F238E27FC236}">
                <a16:creationId xmlns:a16="http://schemas.microsoft.com/office/drawing/2014/main" id="{6B1BE561-29C7-4B7A-A609-8E7DA81CE30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6"/>
          <a:stretch/>
        </p:blipFill>
        <p:spPr>
          <a:xfrm>
            <a:off x="1121688" y="3247998"/>
            <a:ext cx="4374345" cy="5674950"/>
          </a:xfrm>
          <a:prstGeom prst="rect">
            <a:avLst/>
          </a:prstGeom>
        </p:spPr>
      </p:pic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4C3E5514-96D6-46E4-9A63-207582624CFD}"/>
              </a:ext>
            </a:extLst>
          </p:cNvPr>
          <p:cNvCxnSpPr>
            <a:cxnSpLocks/>
          </p:cNvCxnSpPr>
          <p:nvPr/>
        </p:nvCxnSpPr>
        <p:spPr>
          <a:xfrm>
            <a:off x="5831393" y="5975311"/>
            <a:ext cx="1064708" cy="0"/>
          </a:xfrm>
          <a:prstGeom prst="straightConnector1">
            <a:avLst/>
          </a:prstGeom>
          <a:ln w="190500" cap="flat" cmpd="sng" algn="ctr">
            <a:solidFill>
              <a:schemeClr val="accent1"/>
            </a:solidFill>
            <a:prstDash val="solid"/>
            <a:round/>
            <a:headEnd type="none" w="lg" len="lg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398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71" y="1050861"/>
            <a:ext cx="6856462" cy="575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메모리 주소 할당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2A397FE-C158-46AD-A3AC-2C1C6AE2D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238" y="4473515"/>
            <a:ext cx="10300834" cy="4954917"/>
          </a:xfrm>
          <a:prstGeom prst="rect">
            <a:avLst/>
          </a:prstGeom>
        </p:spPr>
      </p:pic>
      <p:sp>
        <p:nvSpPr>
          <p:cNvPr id="59" name="TextBox 17">
            <a:extLst>
              <a:ext uri="{FF2B5EF4-FFF2-40B4-BE49-F238E27FC236}">
                <a16:creationId xmlns:a16="http://schemas.microsoft.com/office/drawing/2014/main" id="{26F00AD2-F96B-4774-A47C-C0ECE159E918}"/>
              </a:ext>
            </a:extLst>
          </p:cNvPr>
          <p:cNvSpPr txBox="1"/>
          <p:nvPr/>
        </p:nvSpPr>
        <p:spPr>
          <a:xfrm>
            <a:off x="1357766" y="2011185"/>
            <a:ext cx="11398397" cy="198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(1</a:t>
            </a:r>
            <a:r>
              <a:rPr lang="ko-KR" altLang="en-US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행 </a:t>
            </a: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1</a:t>
            </a:r>
            <a:r>
              <a:rPr lang="ko-KR" altLang="en-US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열</a:t>
            </a: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     - </a:t>
            </a:r>
            <a:r>
              <a:rPr lang="ko-KR" altLang="en-US" sz="3000" b="1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위치 정보</a:t>
            </a: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: D</a:t>
            </a:r>
            <a:r>
              <a:rPr lang="en-US" altLang="ko-KR" sz="3000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11</a:t>
            </a: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   (Status: 0=Empty, K11=Occupied)</a:t>
            </a:r>
          </a:p>
          <a:p>
            <a:pPr>
              <a:lnSpc>
                <a:spcPct val="150000"/>
              </a:lnSpc>
            </a:pP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     - </a:t>
            </a:r>
            <a:r>
              <a:rPr lang="ko-KR" altLang="en-US" sz="3000" b="1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재질 정보</a:t>
            </a: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: D</a:t>
            </a:r>
            <a:r>
              <a:rPr lang="en-US" altLang="ko-KR" sz="3000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13  </a:t>
            </a: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 (Type: 1=Non-Metal, 2=Metal)</a:t>
            </a:r>
            <a:endParaRPr lang="ko-KR" altLang="en-US" sz="3000" spc="-57" dirty="0">
              <a:solidFill>
                <a:schemeClr val="tx1">
                  <a:lumMod val="85000"/>
                  <a:lumOff val="15000"/>
                  <a:alpha val="61961"/>
                </a:schemeClr>
              </a:solidFill>
              <a:latin typeface="JASO Sans"/>
              <a:ea typeface="JASO Sans"/>
              <a:cs typeface="Segoe UI Semibold" panose="020B0702040204020203" pitchFamily="34" charset="0"/>
              <a:sym typeface="JASO Sans"/>
            </a:endParaRPr>
          </a:p>
        </p:txBody>
      </p:sp>
    </p:spTree>
    <p:extLst>
      <p:ext uri="{BB962C8B-B14F-4D97-AF65-F5344CB8AC3E}">
        <p14:creationId xmlns:p14="http://schemas.microsoft.com/office/powerpoint/2010/main" val="1207059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81" y="1054375"/>
            <a:ext cx="5524762" cy="57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설계 의도 및 기대 효과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50" name="TextBox 17">
            <a:extLst>
              <a:ext uri="{FF2B5EF4-FFF2-40B4-BE49-F238E27FC236}">
                <a16:creationId xmlns:a16="http://schemas.microsoft.com/office/drawing/2014/main" id="{499F6C05-B0B3-4F03-832A-6FCD1FBD3883}"/>
              </a:ext>
            </a:extLst>
          </p:cNvPr>
          <p:cNvSpPr txBox="1"/>
          <p:nvPr/>
        </p:nvSpPr>
        <p:spPr>
          <a:xfrm>
            <a:off x="1627690" y="2132546"/>
            <a:ext cx="11398397" cy="198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1. </a:t>
            </a:r>
            <a:r>
              <a:rPr lang="ko-KR" altLang="en-US" sz="3000" b="1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위치</a:t>
            </a:r>
            <a:r>
              <a:rPr lang="ko-KR" altLang="en-US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와 </a:t>
            </a:r>
            <a:r>
              <a:rPr lang="ko-KR" altLang="en-US" sz="3000" b="1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속성</a:t>
            </a:r>
            <a:r>
              <a:rPr lang="ko-KR" altLang="en-US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데이터의 독립적 관리</a:t>
            </a:r>
          </a:p>
          <a:p>
            <a:pPr>
              <a:lnSpc>
                <a:spcPct val="150000"/>
              </a:lnSpc>
            </a:pP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2. </a:t>
            </a:r>
            <a:r>
              <a:rPr lang="ko-KR" altLang="en-US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데이터 </a:t>
            </a:r>
            <a:r>
              <a:rPr lang="ko-KR" altLang="en-US" sz="3000" spc="-57" dirty="0" err="1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필드별</a:t>
            </a:r>
            <a:r>
              <a:rPr lang="ko-KR" altLang="en-US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 조건부 검색 및 제어 용이성 확보</a:t>
            </a:r>
          </a:p>
          <a:p>
            <a:pPr>
              <a:lnSpc>
                <a:spcPct val="150000"/>
              </a:lnSpc>
            </a:pPr>
            <a:r>
              <a:rPr lang="en-US" altLang="ko-KR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3. </a:t>
            </a:r>
            <a:r>
              <a:rPr lang="ko-KR" altLang="en-US" sz="3000" spc="-57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유지보수 및 디버깅 효율성 향상</a:t>
            </a:r>
          </a:p>
        </p:txBody>
      </p:sp>
      <p:sp>
        <p:nvSpPr>
          <p:cNvPr id="77" name="Freeform 44">
            <a:extLst>
              <a:ext uri="{FF2B5EF4-FFF2-40B4-BE49-F238E27FC236}">
                <a16:creationId xmlns:a16="http://schemas.microsoft.com/office/drawing/2014/main" id="{E769C3EC-0A18-4F16-8AE5-BC0C39A1F3F2}"/>
              </a:ext>
            </a:extLst>
          </p:cNvPr>
          <p:cNvSpPr/>
          <p:nvPr/>
        </p:nvSpPr>
        <p:spPr>
          <a:xfrm>
            <a:off x="1292520" y="2438247"/>
            <a:ext cx="189836" cy="144749"/>
          </a:xfrm>
          <a:custGeom>
            <a:avLst/>
            <a:gdLst/>
            <a:ahLst/>
            <a:cxnLst/>
            <a:rect l="l" t="t" r="r" b="b"/>
            <a:pathLst>
              <a:path w="253114" h="192999">
                <a:moveTo>
                  <a:pt x="0" y="0"/>
                </a:moveTo>
                <a:lnTo>
                  <a:pt x="253114" y="0"/>
                </a:lnTo>
                <a:lnTo>
                  <a:pt x="253114" y="193000"/>
                </a:lnTo>
                <a:lnTo>
                  <a:pt x="0" y="193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Group 17">
            <a:extLst>
              <a:ext uri="{FF2B5EF4-FFF2-40B4-BE49-F238E27FC236}">
                <a16:creationId xmlns:a16="http://schemas.microsoft.com/office/drawing/2014/main" id="{D2C0BAF6-ACA6-4FB8-BF61-89F37708D4DA}"/>
              </a:ext>
            </a:extLst>
          </p:cNvPr>
          <p:cNvGrpSpPr/>
          <p:nvPr/>
        </p:nvGrpSpPr>
        <p:grpSpPr>
          <a:xfrm>
            <a:off x="861646" y="4592405"/>
            <a:ext cx="2836819" cy="3457451"/>
            <a:chOff x="0" y="0"/>
            <a:chExt cx="353279" cy="403383"/>
          </a:xfrm>
        </p:grpSpPr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28194FDE-30F7-4FA7-9C41-183E49EBE8DD}"/>
                </a:ext>
              </a:extLst>
            </p:cNvPr>
            <p:cNvSpPr/>
            <p:nvPr/>
          </p:nvSpPr>
          <p:spPr>
            <a:xfrm>
              <a:off x="0" y="0"/>
              <a:ext cx="353279" cy="403383"/>
            </a:xfrm>
            <a:custGeom>
              <a:avLst/>
              <a:gdLst/>
              <a:ahLst/>
              <a:cxnLst/>
              <a:rect l="l" t="t" r="r" b="b"/>
              <a:pathLst>
                <a:path w="353279" h="403383">
                  <a:moveTo>
                    <a:pt x="28434" y="0"/>
                  </a:moveTo>
                  <a:lnTo>
                    <a:pt x="324845" y="0"/>
                  </a:lnTo>
                  <a:cubicBezTo>
                    <a:pt x="332386" y="0"/>
                    <a:pt x="339619" y="2996"/>
                    <a:pt x="344951" y="8328"/>
                  </a:cubicBezTo>
                  <a:cubicBezTo>
                    <a:pt x="350283" y="13660"/>
                    <a:pt x="353279" y="20892"/>
                    <a:pt x="353279" y="28434"/>
                  </a:cubicBezTo>
                  <a:lnTo>
                    <a:pt x="353279" y="374949"/>
                  </a:lnTo>
                  <a:cubicBezTo>
                    <a:pt x="353279" y="382490"/>
                    <a:pt x="350283" y="389722"/>
                    <a:pt x="344951" y="395055"/>
                  </a:cubicBezTo>
                  <a:cubicBezTo>
                    <a:pt x="339619" y="400387"/>
                    <a:pt x="332386" y="403383"/>
                    <a:pt x="324845" y="403383"/>
                  </a:cubicBezTo>
                  <a:lnTo>
                    <a:pt x="28434" y="403383"/>
                  </a:lnTo>
                  <a:cubicBezTo>
                    <a:pt x="20892" y="403383"/>
                    <a:pt x="13660" y="400387"/>
                    <a:pt x="8328" y="395055"/>
                  </a:cubicBezTo>
                  <a:cubicBezTo>
                    <a:pt x="2996" y="389722"/>
                    <a:pt x="0" y="382490"/>
                    <a:pt x="0" y="374949"/>
                  </a:cubicBezTo>
                  <a:lnTo>
                    <a:pt x="0" y="28434"/>
                  </a:lnTo>
                  <a:cubicBezTo>
                    <a:pt x="0" y="20892"/>
                    <a:pt x="2996" y="13660"/>
                    <a:pt x="8328" y="8328"/>
                  </a:cubicBezTo>
                  <a:cubicBezTo>
                    <a:pt x="13660" y="2996"/>
                    <a:pt x="20892" y="0"/>
                    <a:pt x="28434" y="0"/>
                  </a:cubicBezTo>
                  <a:close/>
                </a:path>
              </a:pathLst>
            </a:custGeom>
            <a:solidFill>
              <a:srgbClr val="F6FFF3"/>
            </a:solidFill>
            <a:ln w="38100" cap="sq">
              <a:solidFill>
                <a:srgbClr val="E3E3E3"/>
              </a:solidFill>
              <a:prstDash val="solid"/>
              <a:miter/>
            </a:ln>
          </p:spPr>
        </p:sp>
        <p:sp>
          <p:nvSpPr>
            <p:cNvPr id="81" name="TextBox 19">
              <a:extLst>
                <a:ext uri="{FF2B5EF4-FFF2-40B4-BE49-F238E27FC236}">
                  <a16:creationId xmlns:a16="http://schemas.microsoft.com/office/drawing/2014/main" id="{DA339882-6BD0-4311-8329-B209FD7CDB11}"/>
                </a:ext>
              </a:extLst>
            </p:cNvPr>
            <p:cNvSpPr txBox="1"/>
            <p:nvPr/>
          </p:nvSpPr>
          <p:spPr>
            <a:xfrm>
              <a:off x="0" y="-28575"/>
              <a:ext cx="353279" cy="431958"/>
            </a:xfrm>
            <a:prstGeom prst="rect">
              <a:avLst/>
            </a:prstGeom>
          </p:spPr>
          <p:txBody>
            <a:bodyPr lIns="28388" tIns="28388" rIns="28388" bIns="28388" rtlCol="0" anchor="ctr"/>
            <a:lstStyle/>
            <a:p>
              <a:pPr algn="ctr">
                <a:lnSpc>
                  <a:spcPts val="2125"/>
                </a:lnSpc>
                <a:spcBef>
                  <a:spcPct val="0"/>
                </a:spcBef>
              </a:pPr>
              <a:endParaRPr sz="1350"/>
            </a:p>
          </p:txBody>
        </p:sp>
      </p:grpSp>
      <p:sp>
        <p:nvSpPr>
          <p:cNvPr id="82" name="TextBox 26">
            <a:extLst>
              <a:ext uri="{FF2B5EF4-FFF2-40B4-BE49-F238E27FC236}">
                <a16:creationId xmlns:a16="http://schemas.microsoft.com/office/drawing/2014/main" id="{D5873494-D83B-4A99-99A6-89C871EEAA13}"/>
              </a:ext>
            </a:extLst>
          </p:cNvPr>
          <p:cNvSpPr txBox="1"/>
          <p:nvPr/>
        </p:nvSpPr>
        <p:spPr>
          <a:xfrm>
            <a:off x="979545" y="6557383"/>
            <a:ext cx="2572673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ko-KR" altLang="en-US" sz="22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사용자가 원하는 위치를 직접 지정하여 입고</a:t>
            </a:r>
          </a:p>
        </p:txBody>
      </p:sp>
      <p:sp>
        <p:nvSpPr>
          <p:cNvPr id="83" name="TextBox 29">
            <a:extLst>
              <a:ext uri="{FF2B5EF4-FFF2-40B4-BE49-F238E27FC236}">
                <a16:creationId xmlns:a16="http://schemas.microsoft.com/office/drawing/2014/main" id="{806A377E-9560-4FE5-A4BC-95557FB3916A}"/>
              </a:ext>
            </a:extLst>
          </p:cNvPr>
          <p:cNvSpPr txBox="1"/>
          <p:nvPr/>
        </p:nvSpPr>
        <p:spPr>
          <a:xfrm>
            <a:off x="764071" y="5355716"/>
            <a:ext cx="3031968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8"/>
              </a:lnSpc>
            </a:pPr>
            <a:r>
              <a:rPr lang="ko-KR" altLang="en-US" sz="2600" b="1" spc="-50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사용자 지정입고</a:t>
            </a:r>
          </a:p>
        </p:txBody>
      </p:sp>
      <p:sp>
        <p:nvSpPr>
          <p:cNvPr id="84" name="AutoShape 32">
            <a:extLst>
              <a:ext uri="{FF2B5EF4-FFF2-40B4-BE49-F238E27FC236}">
                <a16:creationId xmlns:a16="http://schemas.microsoft.com/office/drawing/2014/main" id="{8F926F6F-982C-4557-835D-FC7A6C039A91}"/>
              </a:ext>
            </a:extLst>
          </p:cNvPr>
          <p:cNvSpPr/>
          <p:nvPr/>
        </p:nvSpPr>
        <p:spPr>
          <a:xfrm flipV="1">
            <a:off x="1104585" y="6148273"/>
            <a:ext cx="2421590" cy="25420"/>
          </a:xfrm>
          <a:prstGeom prst="line">
            <a:avLst/>
          </a:prstGeom>
          <a:ln w="19050" cap="flat">
            <a:solidFill>
              <a:srgbClr val="E3E3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5" name="TextBox 35">
            <a:extLst>
              <a:ext uri="{FF2B5EF4-FFF2-40B4-BE49-F238E27FC236}">
                <a16:creationId xmlns:a16="http://schemas.microsoft.com/office/drawing/2014/main" id="{7E736768-35B9-4671-8621-0777C56F2636}"/>
              </a:ext>
            </a:extLst>
          </p:cNvPr>
          <p:cNvSpPr txBox="1"/>
          <p:nvPr/>
        </p:nvSpPr>
        <p:spPr>
          <a:xfrm rot="-18144">
            <a:off x="1484026" y="4948256"/>
            <a:ext cx="1577849" cy="1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lang="en-US" sz="1196" b="1" spc="-8" dirty="0">
                <a:solidFill>
                  <a:srgbClr val="5CC88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CASE 01</a:t>
            </a:r>
          </a:p>
        </p:txBody>
      </p:sp>
      <p:sp>
        <p:nvSpPr>
          <p:cNvPr id="31" name="Freeform 44">
            <a:extLst>
              <a:ext uri="{FF2B5EF4-FFF2-40B4-BE49-F238E27FC236}">
                <a16:creationId xmlns:a16="http://schemas.microsoft.com/office/drawing/2014/main" id="{22B16892-10AC-4A88-9065-FE6A3C3A2245}"/>
              </a:ext>
            </a:extLst>
          </p:cNvPr>
          <p:cNvSpPr/>
          <p:nvPr/>
        </p:nvSpPr>
        <p:spPr>
          <a:xfrm>
            <a:off x="1300058" y="3094706"/>
            <a:ext cx="189836" cy="144749"/>
          </a:xfrm>
          <a:custGeom>
            <a:avLst/>
            <a:gdLst/>
            <a:ahLst/>
            <a:cxnLst/>
            <a:rect l="l" t="t" r="r" b="b"/>
            <a:pathLst>
              <a:path w="253114" h="192999">
                <a:moveTo>
                  <a:pt x="0" y="0"/>
                </a:moveTo>
                <a:lnTo>
                  <a:pt x="253114" y="0"/>
                </a:lnTo>
                <a:lnTo>
                  <a:pt x="253114" y="193000"/>
                </a:lnTo>
                <a:lnTo>
                  <a:pt x="0" y="193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44">
            <a:extLst>
              <a:ext uri="{FF2B5EF4-FFF2-40B4-BE49-F238E27FC236}">
                <a16:creationId xmlns:a16="http://schemas.microsoft.com/office/drawing/2014/main" id="{DD11DC1D-2374-4588-A7B3-D92CB658AE1B}"/>
              </a:ext>
            </a:extLst>
          </p:cNvPr>
          <p:cNvSpPr/>
          <p:nvPr/>
        </p:nvSpPr>
        <p:spPr>
          <a:xfrm>
            <a:off x="1291982" y="3751165"/>
            <a:ext cx="189836" cy="144749"/>
          </a:xfrm>
          <a:custGeom>
            <a:avLst/>
            <a:gdLst/>
            <a:ahLst/>
            <a:cxnLst/>
            <a:rect l="l" t="t" r="r" b="b"/>
            <a:pathLst>
              <a:path w="253114" h="192999">
                <a:moveTo>
                  <a:pt x="0" y="0"/>
                </a:moveTo>
                <a:lnTo>
                  <a:pt x="253114" y="0"/>
                </a:lnTo>
                <a:lnTo>
                  <a:pt x="253114" y="193000"/>
                </a:lnTo>
                <a:lnTo>
                  <a:pt x="0" y="193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5" name="Group 17">
            <a:extLst>
              <a:ext uri="{FF2B5EF4-FFF2-40B4-BE49-F238E27FC236}">
                <a16:creationId xmlns:a16="http://schemas.microsoft.com/office/drawing/2014/main" id="{05BCB635-B0F8-4BDA-BD00-06A0108C7DF5}"/>
              </a:ext>
            </a:extLst>
          </p:cNvPr>
          <p:cNvGrpSpPr/>
          <p:nvPr/>
        </p:nvGrpSpPr>
        <p:grpSpPr>
          <a:xfrm>
            <a:off x="3954594" y="4592405"/>
            <a:ext cx="2836819" cy="3457451"/>
            <a:chOff x="0" y="0"/>
            <a:chExt cx="353279" cy="403383"/>
          </a:xfrm>
        </p:grpSpPr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6AFB4F72-E2EC-40E9-8E04-525BA069748B}"/>
                </a:ext>
              </a:extLst>
            </p:cNvPr>
            <p:cNvSpPr/>
            <p:nvPr/>
          </p:nvSpPr>
          <p:spPr>
            <a:xfrm>
              <a:off x="0" y="0"/>
              <a:ext cx="353279" cy="403383"/>
            </a:xfrm>
            <a:custGeom>
              <a:avLst/>
              <a:gdLst/>
              <a:ahLst/>
              <a:cxnLst/>
              <a:rect l="l" t="t" r="r" b="b"/>
              <a:pathLst>
                <a:path w="353279" h="403383">
                  <a:moveTo>
                    <a:pt x="28434" y="0"/>
                  </a:moveTo>
                  <a:lnTo>
                    <a:pt x="324845" y="0"/>
                  </a:lnTo>
                  <a:cubicBezTo>
                    <a:pt x="332386" y="0"/>
                    <a:pt x="339619" y="2996"/>
                    <a:pt x="344951" y="8328"/>
                  </a:cubicBezTo>
                  <a:cubicBezTo>
                    <a:pt x="350283" y="13660"/>
                    <a:pt x="353279" y="20892"/>
                    <a:pt x="353279" y="28434"/>
                  </a:cubicBezTo>
                  <a:lnTo>
                    <a:pt x="353279" y="374949"/>
                  </a:lnTo>
                  <a:cubicBezTo>
                    <a:pt x="353279" y="382490"/>
                    <a:pt x="350283" y="389722"/>
                    <a:pt x="344951" y="395055"/>
                  </a:cubicBezTo>
                  <a:cubicBezTo>
                    <a:pt x="339619" y="400387"/>
                    <a:pt x="332386" y="403383"/>
                    <a:pt x="324845" y="403383"/>
                  </a:cubicBezTo>
                  <a:lnTo>
                    <a:pt x="28434" y="403383"/>
                  </a:lnTo>
                  <a:cubicBezTo>
                    <a:pt x="20892" y="403383"/>
                    <a:pt x="13660" y="400387"/>
                    <a:pt x="8328" y="395055"/>
                  </a:cubicBezTo>
                  <a:cubicBezTo>
                    <a:pt x="2996" y="389722"/>
                    <a:pt x="0" y="382490"/>
                    <a:pt x="0" y="374949"/>
                  </a:cubicBezTo>
                  <a:lnTo>
                    <a:pt x="0" y="28434"/>
                  </a:lnTo>
                  <a:cubicBezTo>
                    <a:pt x="0" y="20892"/>
                    <a:pt x="2996" y="13660"/>
                    <a:pt x="8328" y="8328"/>
                  </a:cubicBezTo>
                  <a:cubicBezTo>
                    <a:pt x="13660" y="2996"/>
                    <a:pt x="20892" y="0"/>
                    <a:pt x="28434" y="0"/>
                  </a:cubicBezTo>
                  <a:close/>
                </a:path>
              </a:pathLst>
            </a:custGeom>
            <a:solidFill>
              <a:srgbClr val="F6FFF3"/>
            </a:solidFill>
            <a:ln w="38100" cap="sq">
              <a:solidFill>
                <a:srgbClr val="E3E3E3"/>
              </a:solidFill>
              <a:prstDash val="solid"/>
              <a:miter/>
            </a:ln>
          </p:spPr>
        </p:sp>
        <p:sp>
          <p:nvSpPr>
            <p:cNvPr id="57" name="TextBox 19">
              <a:extLst>
                <a:ext uri="{FF2B5EF4-FFF2-40B4-BE49-F238E27FC236}">
                  <a16:creationId xmlns:a16="http://schemas.microsoft.com/office/drawing/2014/main" id="{E8B39B68-F19D-47F6-AF01-3EF93AE7C4EF}"/>
                </a:ext>
              </a:extLst>
            </p:cNvPr>
            <p:cNvSpPr txBox="1"/>
            <p:nvPr/>
          </p:nvSpPr>
          <p:spPr>
            <a:xfrm>
              <a:off x="0" y="-28575"/>
              <a:ext cx="353279" cy="431958"/>
            </a:xfrm>
            <a:prstGeom prst="rect">
              <a:avLst/>
            </a:prstGeom>
          </p:spPr>
          <p:txBody>
            <a:bodyPr lIns="28388" tIns="28388" rIns="28388" bIns="28388" rtlCol="0" anchor="ctr"/>
            <a:lstStyle/>
            <a:p>
              <a:pPr algn="ctr">
                <a:lnSpc>
                  <a:spcPts val="2125"/>
                </a:lnSpc>
                <a:spcBef>
                  <a:spcPct val="0"/>
                </a:spcBef>
              </a:pPr>
              <a:endParaRPr sz="1350"/>
            </a:p>
          </p:txBody>
        </p:sp>
      </p:grpSp>
      <p:sp>
        <p:nvSpPr>
          <p:cNvPr id="58" name="TextBox 26">
            <a:extLst>
              <a:ext uri="{FF2B5EF4-FFF2-40B4-BE49-F238E27FC236}">
                <a16:creationId xmlns:a16="http://schemas.microsoft.com/office/drawing/2014/main" id="{BA079AC5-47E0-46D9-B871-10C5A458A6CC}"/>
              </a:ext>
            </a:extLst>
          </p:cNvPr>
          <p:cNvSpPr txBox="1"/>
          <p:nvPr/>
        </p:nvSpPr>
        <p:spPr>
          <a:xfrm>
            <a:off x="4072493" y="6557383"/>
            <a:ext cx="2572673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ko-KR" altLang="en-US" sz="22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빈 공간을 순차적으로 검색하여 자동으로 적재 및 남은 물건 배출</a:t>
            </a:r>
          </a:p>
        </p:txBody>
      </p:sp>
      <p:sp>
        <p:nvSpPr>
          <p:cNvPr id="59" name="TextBox 29">
            <a:extLst>
              <a:ext uri="{FF2B5EF4-FFF2-40B4-BE49-F238E27FC236}">
                <a16:creationId xmlns:a16="http://schemas.microsoft.com/office/drawing/2014/main" id="{6586509E-53BA-42F2-99D3-3CF82055B474}"/>
              </a:ext>
            </a:extLst>
          </p:cNvPr>
          <p:cNvSpPr txBox="1"/>
          <p:nvPr/>
        </p:nvSpPr>
        <p:spPr>
          <a:xfrm>
            <a:off x="3863808" y="5195074"/>
            <a:ext cx="3031968" cy="885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8"/>
              </a:lnSpc>
            </a:pPr>
            <a:r>
              <a:rPr lang="ko-KR" altLang="en-US" sz="2600" b="1" spc="-50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지능형 적재 및 </a:t>
            </a:r>
            <a:endParaRPr lang="en-US" altLang="ko-KR" sz="2600" b="1" spc="-50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  <a:p>
            <a:pPr algn="ctr">
              <a:lnSpc>
                <a:spcPts val="3508"/>
              </a:lnSpc>
            </a:pPr>
            <a:r>
              <a:rPr lang="ko-KR" altLang="en-US" sz="2600" b="1" spc="-50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출고</a:t>
            </a:r>
          </a:p>
        </p:txBody>
      </p:sp>
      <p:sp>
        <p:nvSpPr>
          <p:cNvPr id="60" name="AutoShape 32">
            <a:extLst>
              <a:ext uri="{FF2B5EF4-FFF2-40B4-BE49-F238E27FC236}">
                <a16:creationId xmlns:a16="http://schemas.microsoft.com/office/drawing/2014/main" id="{96CD734A-81BC-4F79-871D-353CB636015F}"/>
              </a:ext>
            </a:extLst>
          </p:cNvPr>
          <p:cNvSpPr/>
          <p:nvPr/>
        </p:nvSpPr>
        <p:spPr>
          <a:xfrm flipV="1">
            <a:off x="4129557" y="6155359"/>
            <a:ext cx="2421590" cy="25420"/>
          </a:xfrm>
          <a:prstGeom prst="line">
            <a:avLst/>
          </a:prstGeom>
          <a:ln w="19050" cap="flat">
            <a:solidFill>
              <a:srgbClr val="E3E3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6" name="Group 17">
            <a:extLst>
              <a:ext uri="{FF2B5EF4-FFF2-40B4-BE49-F238E27FC236}">
                <a16:creationId xmlns:a16="http://schemas.microsoft.com/office/drawing/2014/main" id="{21692BE9-445A-41D6-A5C5-1AC2BF88ADAC}"/>
              </a:ext>
            </a:extLst>
          </p:cNvPr>
          <p:cNvGrpSpPr/>
          <p:nvPr/>
        </p:nvGrpSpPr>
        <p:grpSpPr>
          <a:xfrm>
            <a:off x="7067211" y="4608199"/>
            <a:ext cx="2836819" cy="3457451"/>
            <a:chOff x="0" y="0"/>
            <a:chExt cx="353279" cy="403383"/>
          </a:xfrm>
        </p:grpSpPr>
        <p:sp>
          <p:nvSpPr>
            <p:cNvPr id="78" name="Freeform 18">
              <a:extLst>
                <a:ext uri="{FF2B5EF4-FFF2-40B4-BE49-F238E27FC236}">
                  <a16:creationId xmlns:a16="http://schemas.microsoft.com/office/drawing/2014/main" id="{F5A55C0C-BF93-4DFB-86B4-AFB8448E701B}"/>
                </a:ext>
              </a:extLst>
            </p:cNvPr>
            <p:cNvSpPr/>
            <p:nvPr/>
          </p:nvSpPr>
          <p:spPr>
            <a:xfrm>
              <a:off x="0" y="0"/>
              <a:ext cx="353279" cy="403383"/>
            </a:xfrm>
            <a:custGeom>
              <a:avLst/>
              <a:gdLst/>
              <a:ahLst/>
              <a:cxnLst/>
              <a:rect l="l" t="t" r="r" b="b"/>
              <a:pathLst>
                <a:path w="353279" h="403383">
                  <a:moveTo>
                    <a:pt x="28434" y="0"/>
                  </a:moveTo>
                  <a:lnTo>
                    <a:pt x="324845" y="0"/>
                  </a:lnTo>
                  <a:cubicBezTo>
                    <a:pt x="332386" y="0"/>
                    <a:pt x="339619" y="2996"/>
                    <a:pt x="344951" y="8328"/>
                  </a:cubicBezTo>
                  <a:cubicBezTo>
                    <a:pt x="350283" y="13660"/>
                    <a:pt x="353279" y="20892"/>
                    <a:pt x="353279" y="28434"/>
                  </a:cubicBezTo>
                  <a:lnTo>
                    <a:pt x="353279" y="374949"/>
                  </a:lnTo>
                  <a:cubicBezTo>
                    <a:pt x="353279" y="382490"/>
                    <a:pt x="350283" y="389722"/>
                    <a:pt x="344951" y="395055"/>
                  </a:cubicBezTo>
                  <a:cubicBezTo>
                    <a:pt x="339619" y="400387"/>
                    <a:pt x="332386" y="403383"/>
                    <a:pt x="324845" y="403383"/>
                  </a:cubicBezTo>
                  <a:lnTo>
                    <a:pt x="28434" y="403383"/>
                  </a:lnTo>
                  <a:cubicBezTo>
                    <a:pt x="20892" y="403383"/>
                    <a:pt x="13660" y="400387"/>
                    <a:pt x="8328" y="395055"/>
                  </a:cubicBezTo>
                  <a:cubicBezTo>
                    <a:pt x="2996" y="389722"/>
                    <a:pt x="0" y="382490"/>
                    <a:pt x="0" y="374949"/>
                  </a:cubicBezTo>
                  <a:lnTo>
                    <a:pt x="0" y="28434"/>
                  </a:lnTo>
                  <a:cubicBezTo>
                    <a:pt x="0" y="20892"/>
                    <a:pt x="2996" y="13660"/>
                    <a:pt x="8328" y="8328"/>
                  </a:cubicBezTo>
                  <a:cubicBezTo>
                    <a:pt x="13660" y="2996"/>
                    <a:pt x="20892" y="0"/>
                    <a:pt x="28434" y="0"/>
                  </a:cubicBezTo>
                  <a:close/>
                </a:path>
              </a:pathLst>
            </a:custGeom>
            <a:solidFill>
              <a:srgbClr val="F6FFF3"/>
            </a:solidFill>
            <a:ln w="38100" cap="sq">
              <a:solidFill>
                <a:srgbClr val="E3E3E3"/>
              </a:solidFill>
              <a:prstDash val="solid"/>
              <a:miter/>
            </a:ln>
          </p:spPr>
        </p:sp>
        <p:sp>
          <p:nvSpPr>
            <p:cNvPr id="86" name="TextBox 19">
              <a:extLst>
                <a:ext uri="{FF2B5EF4-FFF2-40B4-BE49-F238E27FC236}">
                  <a16:creationId xmlns:a16="http://schemas.microsoft.com/office/drawing/2014/main" id="{242366FF-1666-4D44-AD50-DEA9412A5A36}"/>
                </a:ext>
              </a:extLst>
            </p:cNvPr>
            <p:cNvSpPr txBox="1"/>
            <p:nvPr/>
          </p:nvSpPr>
          <p:spPr>
            <a:xfrm>
              <a:off x="0" y="-28575"/>
              <a:ext cx="353279" cy="431958"/>
            </a:xfrm>
            <a:prstGeom prst="rect">
              <a:avLst/>
            </a:prstGeom>
          </p:spPr>
          <p:txBody>
            <a:bodyPr lIns="28388" tIns="28388" rIns="28388" bIns="28388" rtlCol="0" anchor="ctr"/>
            <a:lstStyle/>
            <a:p>
              <a:pPr algn="ctr">
                <a:lnSpc>
                  <a:spcPts val="2125"/>
                </a:lnSpc>
                <a:spcBef>
                  <a:spcPct val="0"/>
                </a:spcBef>
              </a:pPr>
              <a:endParaRPr sz="1350"/>
            </a:p>
          </p:txBody>
        </p:sp>
      </p:grpSp>
      <p:sp>
        <p:nvSpPr>
          <p:cNvPr id="87" name="TextBox 26">
            <a:extLst>
              <a:ext uri="{FF2B5EF4-FFF2-40B4-BE49-F238E27FC236}">
                <a16:creationId xmlns:a16="http://schemas.microsoft.com/office/drawing/2014/main" id="{F1F70786-9061-460B-9EE3-A4AC42A0C4AD}"/>
              </a:ext>
            </a:extLst>
          </p:cNvPr>
          <p:cNvSpPr txBox="1"/>
          <p:nvPr/>
        </p:nvSpPr>
        <p:spPr>
          <a:xfrm>
            <a:off x="7185110" y="6573177"/>
            <a:ext cx="2572673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ko-KR" altLang="en-US" sz="22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특정 창고 번호를 지정하여 해당 물품 출고</a:t>
            </a:r>
          </a:p>
        </p:txBody>
      </p:sp>
      <p:sp>
        <p:nvSpPr>
          <p:cNvPr id="88" name="TextBox 29">
            <a:extLst>
              <a:ext uri="{FF2B5EF4-FFF2-40B4-BE49-F238E27FC236}">
                <a16:creationId xmlns:a16="http://schemas.microsoft.com/office/drawing/2014/main" id="{37CEE6B1-6D18-4405-9A7A-FB9B893B8EFC}"/>
              </a:ext>
            </a:extLst>
          </p:cNvPr>
          <p:cNvSpPr txBox="1"/>
          <p:nvPr/>
        </p:nvSpPr>
        <p:spPr>
          <a:xfrm>
            <a:off x="6969636" y="5330219"/>
            <a:ext cx="3031968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8"/>
              </a:lnSpc>
            </a:pPr>
            <a:r>
              <a:rPr lang="ko-KR" altLang="en-US" sz="2600" b="1" spc="-50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지정 위치 출고</a:t>
            </a:r>
          </a:p>
        </p:txBody>
      </p:sp>
      <p:sp>
        <p:nvSpPr>
          <p:cNvPr id="89" name="AutoShape 32">
            <a:extLst>
              <a:ext uri="{FF2B5EF4-FFF2-40B4-BE49-F238E27FC236}">
                <a16:creationId xmlns:a16="http://schemas.microsoft.com/office/drawing/2014/main" id="{8BE88E35-CEAE-4484-9C8A-8A416622D467}"/>
              </a:ext>
            </a:extLst>
          </p:cNvPr>
          <p:cNvSpPr/>
          <p:nvPr/>
        </p:nvSpPr>
        <p:spPr>
          <a:xfrm flipV="1">
            <a:off x="7310150" y="6164067"/>
            <a:ext cx="2421590" cy="25420"/>
          </a:xfrm>
          <a:prstGeom prst="line">
            <a:avLst/>
          </a:prstGeom>
          <a:ln w="19050" cap="flat">
            <a:solidFill>
              <a:srgbClr val="E3E3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1" name="Group 17">
            <a:extLst>
              <a:ext uri="{FF2B5EF4-FFF2-40B4-BE49-F238E27FC236}">
                <a16:creationId xmlns:a16="http://schemas.microsoft.com/office/drawing/2014/main" id="{6A425A84-D38B-4D6D-81A6-F2805EC31B05}"/>
              </a:ext>
            </a:extLst>
          </p:cNvPr>
          <p:cNvGrpSpPr/>
          <p:nvPr/>
        </p:nvGrpSpPr>
        <p:grpSpPr>
          <a:xfrm>
            <a:off x="10183323" y="4608199"/>
            <a:ext cx="2836819" cy="3457451"/>
            <a:chOff x="0" y="0"/>
            <a:chExt cx="353279" cy="403383"/>
          </a:xfrm>
        </p:grpSpPr>
        <p:sp>
          <p:nvSpPr>
            <p:cNvPr id="92" name="Freeform 18">
              <a:extLst>
                <a:ext uri="{FF2B5EF4-FFF2-40B4-BE49-F238E27FC236}">
                  <a16:creationId xmlns:a16="http://schemas.microsoft.com/office/drawing/2014/main" id="{175D07D6-EBA6-4030-99E9-61A3C5B4D3A0}"/>
                </a:ext>
              </a:extLst>
            </p:cNvPr>
            <p:cNvSpPr/>
            <p:nvPr/>
          </p:nvSpPr>
          <p:spPr>
            <a:xfrm>
              <a:off x="0" y="0"/>
              <a:ext cx="353279" cy="403383"/>
            </a:xfrm>
            <a:custGeom>
              <a:avLst/>
              <a:gdLst/>
              <a:ahLst/>
              <a:cxnLst/>
              <a:rect l="l" t="t" r="r" b="b"/>
              <a:pathLst>
                <a:path w="353279" h="403383">
                  <a:moveTo>
                    <a:pt x="28434" y="0"/>
                  </a:moveTo>
                  <a:lnTo>
                    <a:pt x="324845" y="0"/>
                  </a:lnTo>
                  <a:cubicBezTo>
                    <a:pt x="332386" y="0"/>
                    <a:pt x="339619" y="2996"/>
                    <a:pt x="344951" y="8328"/>
                  </a:cubicBezTo>
                  <a:cubicBezTo>
                    <a:pt x="350283" y="13660"/>
                    <a:pt x="353279" y="20892"/>
                    <a:pt x="353279" y="28434"/>
                  </a:cubicBezTo>
                  <a:lnTo>
                    <a:pt x="353279" y="374949"/>
                  </a:lnTo>
                  <a:cubicBezTo>
                    <a:pt x="353279" y="382490"/>
                    <a:pt x="350283" y="389722"/>
                    <a:pt x="344951" y="395055"/>
                  </a:cubicBezTo>
                  <a:cubicBezTo>
                    <a:pt x="339619" y="400387"/>
                    <a:pt x="332386" y="403383"/>
                    <a:pt x="324845" y="403383"/>
                  </a:cubicBezTo>
                  <a:lnTo>
                    <a:pt x="28434" y="403383"/>
                  </a:lnTo>
                  <a:cubicBezTo>
                    <a:pt x="20892" y="403383"/>
                    <a:pt x="13660" y="400387"/>
                    <a:pt x="8328" y="395055"/>
                  </a:cubicBezTo>
                  <a:cubicBezTo>
                    <a:pt x="2996" y="389722"/>
                    <a:pt x="0" y="382490"/>
                    <a:pt x="0" y="374949"/>
                  </a:cubicBezTo>
                  <a:lnTo>
                    <a:pt x="0" y="28434"/>
                  </a:lnTo>
                  <a:cubicBezTo>
                    <a:pt x="0" y="20892"/>
                    <a:pt x="2996" y="13660"/>
                    <a:pt x="8328" y="8328"/>
                  </a:cubicBezTo>
                  <a:cubicBezTo>
                    <a:pt x="13660" y="2996"/>
                    <a:pt x="20892" y="0"/>
                    <a:pt x="28434" y="0"/>
                  </a:cubicBezTo>
                  <a:close/>
                </a:path>
              </a:pathLst>
            </a:custGeom>
            <a:solidFill>
              <a:srgbClr val="F6FFF3"/>
            </a:solidFill>
            <a:ln w="38100" cap="sq">
              <a:solidFill>
                <a:srgbClr val="E3E3E3"/>
              </a:solidFill>
              <a:prstDash val="solid"/>
              <a:miter/>
            </a:ln>
          </p:spPr>
        </p:sp>
        <p:sp>
          <p:nvSpPr>
            <p:cNvPr id="93" name="TextBox 19">
              <a:extLst>
                <a:ext uri="{FF2B5EF4-FFF2-40B4-BE49-F238E27FC236}">
                  <a16:creationId xmlns:a16="http://schemas.microsoft.com/office/drawing/2014/main" id="{C8AA9334-053F-42AD-B3AD-993777556873}"/>
                </a:ext>
              </a:extLst>
            </p:cNvPr>
            <p:cNvSpPr txBox="1"/>
            <p:nvPr/>
          </p:nvSpPr>
          <p:spPr>
            <a:xfrm>
              <a:off x="0" y="-28575"/>
              <a:ext cx="353279" cy="431958"/>
            </a:xfrm>
            <a:prstGeom prst="rect">
              <a:avLst/>
            </a:prstGeom>
          </p:spPr>
          <p:txBody>
            <a:bodyPr lIns="28388" tIns="28388" rIns="28388" bIns="28388" rtlCol="0" anchor="ctr"/>
            <a:lstStyle/>
            <a:p>
              <a:pPr algn="ctr">
                <a:lnSpc>
                  <a:spcPts val="2125"/>
                </a:lnSpc>
                <a:spcBef>
                  <a:spcPct val="0"/>
                </a:spcBef>
              </a:pPr>
              <a:endParaRPr sz="1350"/>
            </a:p>
          </p:txBody>
        </p:sp>
      </p:grpSp>
      <p:sp>
        <p:nvSpPr>
          <p:cNvPr id="94" name="TextBox 26">
            <a:extLst>
              <a:ext uri="{FF2B5EF4-FFF2-40B4-BE49-F238E27FC236}">
                <a16:creationId xmlns:a16="http://schemas.microsoft.com/office/drawing/2014/main" id="{C2112C4E-6015-4C99-B385-BFED821A4D97}"/>
              </a:ext>
            </a:extLst>
          </p:cNvPr>
          <p:cNvSpPr txBox="1"/>
          <p:nvPr/>
        </p:nvSpPr>
        <p:spPr>
          <a:xfrm>
            <a:off x="10301222" y="6573177"/>
            <a:ext cx="2572673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ko-KR" sz="22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"</a:t>
            </a:r>
            <a:r>
              <a:rPr lang="ko-KR" altLang="en-US" sz="22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비금속만 출고</a:t>
            </a:r>
            <a:r>
              <a:rPr lang="en-US" altLang="ko-KR" sz="22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" </a:t>
            </a:r>
            <a:r>
              <a:rPr lang="ko-KR" altLang="en-US" sz="2200" spc="-58" dirty="0">
                <a:solidFill>
                  <a:schemeClr val="tx1">
                    <a:lumMod val="85000"/>
                    <a:lumOff val="15000"/>
                    <a:alpha val="61961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등 속성 조건에 따른 필터링 배출</a:t>
            </a:r>
          </a:p>
        </p:txBody>
      </p:sp>
      <p:sp>
        <p:nvSpPr>
          <p:cNvPr id="95" name="TextBox 29">
            <a:extLst>
              <a:ext uri="{FF2B5EF4-FFF2-40B4-BE49-F238E27FC236}">
                <a16:creationId xmlns:a16="http://schemas.microsoft.com/office/drawing/2014/main" id="{19ABD2BD-AA3E-4F9D-8598-1855A4254B05}"/>
              </a:ext>
            </a:extLst>
          </p:cNvPr>
          <p:cNvSpPr txBox="1"/>
          <p:nvPr/>
        </p:nvSpPr>
        <p:spPr>
          <a:xfrm>
            <a:off x="10098019" y="5298961"/>
            <a:ext cx="3031968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8"/>
              </a:lnSpc>
            </a:pPr>
            <a:r>
              <a:rPr lang="ko-KR" altLang="en-US" sz="2600" b="1" spc="-50" dirty="0" err="1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재질별</a:t>
            </a:r>
            <a:r>
              <a:rPr lang="ko-KR" altLang="en-US" sz="2600" b="1" spc="-50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 선택 출고</a:t>
            </a:r>
          </a:p>
        </p:txBody>
      </p:sp>
      <p:sp>
        <p:nvSpPr>
          <p:cNvPr id="96" name="AutoShape 32">
            <a:extLst>
              <a:ext uri="{FF2B5EF4-FFF2-40B4-BE49-F238E27FC236}">
                <a16:creationId xmlns:a16="http://schemas.microsoft.com/office/drawing/2014/main" id="{2A8FD95F-BABE-4400-8CA4-0D42CDDE6D74}"/>
              </a:ext>
            </a:extLst>
          </p:cNvPr>
          <p:cNvSpPr/>
          <p:nvPr/>
        </p:nvSpPr>
        <p:spPr>
          <a:xfrm flipV="1">
            <a:off x="10426262" y="6164067"/>
            <a:ext cx="2421590" cy="25420"/>
          </a:xfrm>
          <a:prstGeom prst="line">
            <a:avLst/>
          </a:prstGeom>
          <a:ln w="19050" cap="flat">
            <a:solidFill>
              <a:srgbClr val="E3E3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9" name="TextBox 35">
            <a:extLst>
              <a:ext uri="{FF2B5EF4-FFF2-40B4-BE49-F238E27FC236}">
                <a16:creationId xmlns:a16="http://schemas.microsoft.com/office/drawing/2014/main" id="{A5A0DA5D-1AB0-486F-BB1C-2AFD709B4842}"/>
              </a:ext>
            </a:extLst>
          </p:cNvPr>
          <p:cNvSpPr txBox="1"/>
          <p:nvPr/>
        </p:nvSpPr>
        <p:spPr>
          <a:xfrm rot="-18144">
            <a:off x="4619403" y="4947854"/>
            <a:ext cx="1577849" cy="1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lang="en-US" sz="1196" b="1" spc="-8" dirty="0">
                <a:solidFill>
                  <a:srgbClr val="5CC88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CASE 02</a:t>
            </a:r>
          </a:p>
        </p:txBody>
      </p:sp>
      <p:sp>
        <p:nvSpPr>
          <p:cNvPr id="120" name="TextBox 35">
            <a:extLst>
              <a:ext uri="{FF2B5EF4-FFF2-40B4-BE49-F238E27FC236}">
                <a16:creationId xmlns:a16="http://schemas.microsoft.com/office/drawing/2014/main" id="{7EBFAA60-8271-42E7-AA01-CD2EADE8A2FD}"/>
              </a:ext>
            </a:extLst>
          </p:cNvPr>
          <p:cNvSpPr txBox="1"/>
          <p:nvPr/>
        </p:nvSpPr>
        <p:spPr>
          <a:xfrm rot="-18144">
            <a:off x="7696696" y="4922759"/>
            <a:ext cx="1577849" cy="1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lang="en-US" sz="1196" b="1" spc="-8" dirty="0">
                <a:solidFill>
                  <a:srgbClr val="5CC88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CASE 03</a:t>
            </a:r>
          </a:p>
        </p:txBody>
      </p:sp>
      <p:sp>
        <p:nvSpPr>
          <p:cNvPr id="121" name="TextBox 35">
            <a:extLst>
              <a:ext uri="{FF2B5EF4-FFF2-40B4-BE49-F238E27FC236}">
                <a16:creationId xmlns:a16="http://schemas.microsoft.com/office/drawing/2014/main" id="{CEDD2C35-1132-4E32-83F5-DCF1D5D0615A}"/>
              </a:ext>
            </a:extLst>
          </p:cNvPr>
          <p:cNvSpPr txBox="1"/>
          <p:nvPr/>
        </p:nvSpPr>
        <p:spPr>
          <a:xfrm rot="-18144">
            <a:off x="10812808" y="4916594"/>
            <a:ext cx="1577849" cy="1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lang="en-US" sz="1196" b="1" spc="-8" dirty="0">
                <a:solidFill>
                  <a:srgbClr val="5CC88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CASE 04</a:t>
            </a:r>
          </a:p>
        </p:txBody>
      </p:sp>
      <p:sp>
        <p:nvSpPr>
          <p:cNvPr id="122" name="순서도: 수행의 시작/종료 121">
            <a:extLst>
              <a:ext uri="{FF2B5EF4-FFF2-40B4-BE49-F238E27FC236}">
                <a16:creationId xmlns:a16="http://schemas.microsoft.com/office/drawing/2014/main" id="{FD2E804A-351D-4B16-BFCF-211F96737764}"/>
              </a:ext>
            </a:extLst>
          </p:cNvPr>
          <p:cNvSpPr/>
          <p:nvPr/>
        </p:nvSpPr>
        <p:spPr>
          <a:xfrm>
            <a:off x="3698465" y="8381966"/>
            <a:ext cx="3087237" cy="885499"/>
          </a:xfrm>
          <a:prstGeom prst="flowChartTerminator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순서도: 수행의 시작/종료 122">
            <a:extLst>
              <a:ext uri="{FF2B5EF4-FFF2-40B4-BE49-F238E27FC236}">
                <a16:creationId xmlns:a16="http://schemas.microsoft.com/office/drawing/2014/main" id="{7F3A828B-6D96-4516-A6A2-285752C34A7F}"/>
              </a:ext>
            </a:extLst>
          </p:cNvPr>
          <p:cNvSpPr/>
          <p:nvPr/>
        </p:nvSpPr>
        <p:spPr>
          <a:xfrm>
            <a:off x="5417847" y="8381968"/>
            <a:ext cx="5924012" cy="885499"/>
          </a:xfrm>
          <a:prstGeom prst="flowChartTerminator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순서도: 수행의 시작/종료 123">
            <a:extLst>
              <a:ext uri="{FF2B5EF4-FFF2-40B4-BE49-F238E27FC236}">
                <a16:creationId xmlns:a16="http://schemas.microsoft.com/office/drawing/2014/main" id="{91E7FD4F-1C01-4A62-80BB-E5843FDEB7F2}"/>
              </a:ext>
            </a:extLst>
          </p:cNvPr>
          <p:cNvSpPr/>
          <p:nvPr/>
        </p:nvSpPr>
        <p:spPr>
          <a:xfrm>
            <a:off x="9372600" y="8381967"/>
            <a:ext cx="3087237" cy="885499"/>
          </a:xfrm>
          <a:prstGeom prst="flowChartTerminator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6">
            <a:extLst>
              <a:ext uri="{FF2B5EF4-FFF2-40B4-BE49-F238E27FC236}">
                <a16:creationId xmlns:a16="http://schemas.microsoft.com/office/drawing/2014/main" id="{F0E60FA5-6240-470D-A1B3-83743FD2D117}"/>
              </a:ext>
            </a:extLst>
          </p:cNvPr>
          <p:cNvSpPr txBox="1"/>
          <p:nvPr/>
        </p:nvSpPr>
        <p:spPr>
          <a:xfrm rot="-18144">
            <a:off x="1091702" y="8506379"/>
            <a:ext cx="5524762" cy="50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2400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추후 확장 가능성</a:t>
            </a:r>
            <a:endParaRPr lang="en-US" sz="2400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DBF835D-C138-4E28-B891-7B8E808F333B}"/>
              </a:ext>
            </a:extLst>
          </p:cNvPr>
          <p:cNvSpPr txBox="1"/>
          <p:nvPr/>
        </p:nvSpPr>
        <p:spPr>
          <a:xfrm>
            <a:off x="4179678" y="8570421"/>
            <a:ext cx="116580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dirty="0">
                <a:solidFill>
                  <a:schemeClr val="bg1"/>
                </a:solidFill>
              </a:rPr>
              <a:t>무게</a:t>
            </a:r>
            <a:r>
              <a:rPr lang="en-US" altLang="ko-KR" sz="2600" dirty="0">
                <a:solidFill>
                  <a:schemeClr val="bg1"/>
                </a:solidFill>
              </a:rPr>
              <a:t>, </a:t>
            </a:r>
            <a:r>
              <a:rPr lang="ko-KR" altLang="en-US" sz="2600" dirty="0">
                <a:solidFill>
                  <a:schemeClr val="bg1"/>
                </a:solidFill>
              </a:rPr>
              <a:t>입고 시간</a:t>
            </a:r>
            <a:r>
              <a:rPr lang="en-US" altLang="ko-KR" sz="2600" dirty="0">
                <a:solidFill>
                  <a:schemeClr val="bg1"/>
                </a:solidFill>
              </a:rPr>
              <a:t>, </a:t>
            </a:r>
            <a:r>
              <a:rPr lang="ko-KR" altLang="en-US" sz="2600" dirty="0">
                <a:solidFill>
                  <a:schemeClr val="bg1"/>
                </a:solidFill>
              </a:rPr>
              <a:t>불량 여부 등 데이터 필드 추가 용이</a:t>
            </a:r>
          </a:p>
        </p:txBody>
      </p:sp>
    </p:spTree>
    <p:extLst>
      <p:ext uri="{BB962C8B-B14F-4D97-AF65-F5344CB8AC3E}">
        <p14:creationId xmlns:p14="http://schemas.microsoft.com/office/powerpoint/2010/main" val="3571065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71" y="1050861"/>
            <a:ext cx="6856462" cy="575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사용자 지정 입고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A834DF1-AFD1-49D9-A280-854A0BB8D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392" y="2132546"/>
            <a:ext cx="6094484" cy="25595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A43836B-5069-43B9-AE02-D13C138312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688" y="2171280"/>
            <a:ext cx="2486372" cy="30103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6197ED8-C07A-49DB-9197-14168F0CF3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3074" y="4913578"/>
            <a:ext cx="9033721" cy="434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56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71" y="1050861"/>
            <a:ext cx="6856462" cy="575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지능형 적재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D1A990B-C7C0-4CAC-93F2-A383EA656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838700"/>
            <a:ext cx="9879784" cy="475238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6DCFF78-B6B0-4DF1-A3F5-70D28F6B1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2951" y="1970720"/>
            <a:ext cx="5257800" cy="278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41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98" y="1060915"/>
            <a:ext cx="3046516" cy="575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지능형 배출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54E3F5-A7FA-4E86-8C27-F7FD903899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26" y="3619500"/>
            <a:ext cx="11796782" cy="601270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A8C85ED-2CC9-44CD-8C80-8C3D1DBED9DF}"/>
              </a:ext>
            </a:extLst>
          </p:cNvPr>
          <p:cNvSpPr/>
          <p:nvPr/>
        </p:nvSpPr>
        <p:spPr>
          <a:xfrm>
            <a:off x="1419714" y="2104077"/>
            <a:ext cx="2743200" cy="1129340"/>
          </a:xfrm>
          <a:prstGeom prst="rect">
            <a:avLst/>
          </a:prstGeom>
          <a:solidFill>
            <a:srgbClr val="5CC88A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00" dirty="0">
                <a:solidFill>
                  <a:schemeClr val="bg1"/>
                </a:solidFill>
              </a:rPr>
              <a:t>1. </a:t>
            </a:r>
            <a:r>
              <a:rPr lang="ko-KR" altLang="en-US" sz="2600" dirty="0">
                <a:solidFill>
                  <a:schemeClr val="bg1"/>
                </a:solidFill>
              </a:rPr>
              <a:t>순차 배출 버튼 클릭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5A1AD9-C395-4643-8D6B-1FC447821915}"/>
              </a:ext>
            </a:extLst>
          </p:cNvPr>
          <p:cNvSpPr/>
          <p:nvPr/>
        </p:nvSpPr>
        <p:spPr>
          <a:xfrm>
            <a:off x="5339007" y="2104077"/>
            <a:ext cx="2743200" cy="1129340"/>
          </a:xfrm>
          <a:prstGeom prst="rect">
            <a:avLst/>
          </a:prstGeom>
          <a:solidFill>
            <a:srgbClr val="5CC88A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00" dirty="0">
                <a:solidFill>
                  <a:schemeClr val="bg1"/>
                </a:solidFill>
              </a:rPr>
              <a:t>2. </a:t>
            </a:r>
            <a:r>
              <a:rPr lang="ko-KR" altLang="en-US" sz="2600" dirty="0">
                <a:solidFill>
                  <a:schemeClr val="bg1"/>
                </a:solidFill>
              </a:rPr>
              <a:t>원하는 위치 배출 버튼 클릭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EC0D11-7862-47E3-8814-55BB7FBF957D}"/>
              </a:ext>
            </a:extLst>
          </p:cNvPr>
          <p:cNvSpPr/>
          <p:nvPr/>
        </p:nvSpPr>
        <p:spPr>
          <a:xfrm>
            <a:off x="9258300" y="2104077"/>
            <a:ext cx="2743200" cy="1129340"/>
          </a:xfrm>
          <a:prstGeom prst="rect">
            <a:avLst/>
          </a:prstGeom>
          <a:solidFill>
            <a:srgbClr val="5CC88A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00" dirty="0">
                <a:solidFill>
                  <a:schemeClr val="bg1"/>
                </a:solidFill>
              </a:rPr>
              <a:t>3. </a:t>
            </a:r>
            <a:r>
              <a:rPr lang="ko-KR" altLang="en-US" sz="2600" dirty="0" err="1">
                <a:solidFill>
                  <a:schemeClr val="bg1"/>
                </a:solidFill>
              </a:rPr>
              <a:t>재질별</a:t>
            </a:r>
            <a:r>
              <a:rPr lang="ko-KR" altLang="en-US" sz="2600" dirty="0">
                <a:solidFill>
                  <a:schemeClr val="bg1"/>
                </a:solidFill>
              </a:rPr>
              <a:t> 배출 버튼 클릭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060DD004-D045-4F62-8814-B0DCA26C5F7A}"/>
              </a:ext>
            </a:extLst>
          </p:cNvPr>
          <p:cNvSpPr txBox="1"/>
          <p:nvPr/>
        </p:nvSpPr>
        <p:spPr>
          <a:xfrm>
            <a:off x="4345668" y="1168990"/>
            <a:ext cx="6399288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spc="-18" dirty="0">
                <a:solidFill>
                  <a:schemeClr val="tx1">
                    <a:alpha val="49804"/>
                  </a:schemeClr>
                </a:solidFill>
                <a:latin typeface="+mn-ea"/>
                <a:cs typeface="JASO Sans"/>
                <a:sym typeface="JASO Sans"/>
              </a:rPr>
              <a:t>하나의 판별식으로 </a:t>
            </a:r>
            <a:r>
              <a:rPr lang="en-US" altLang="ko-KR" sz="2800" spc="-18" dirty="0">
                <a:solidFill>
                  <a:schemeClr val="tx1">
                    <a:alpha val="49804"/>
                  </a:schemeClr>
                </a:solidFill>
                <a:latin typeface="+mn-ea"/>
                <a:cs typeface="JASO Sans"/>
                <a:sym typeface="JASO Sans"/>
              </a:rPr>
              <a:t>3</a:t>
            </a:r>
            <a:r>
              <a:rPr lang="ko-KR" altLang="en-US" sz="2800" spc="-18" dirty="0">
                <a:solidFill>
                  <a:schemeClr val="tx1">
                    <a:alpha val="49804"/>
                  </a:schemeClr>
                </a:solidFill>
                <a:latin typeface="+mn-ea"/>
                <a:cs typeface="JASO Sans"/>
                <a:sym typeface="JASO Sans"/>
              </a:rPr>
              <a:t>가지 일 수행</a:t>
            </a:r>
            <a:endParaRPr lang="en-US" sz="2800" spc="-18" dirty="0">
              <a:solidFill>
                <a:schemeClr val="tx1">
                  <a:alpha val="49804"/>
                </a:schemeClr>
              </a:solidFill>
              <a:latin typeface="+mn-ea"/>
              <a:cs typeface="JASO Sans"/>
              <a:sym typeface="JASO Sans"/>
            </a:endParaRPr>
          </a:p>
        </p:txBody>
      </p:sp>
    </p:spTree>
    <p:extLst>
      <p:ext uri="{BB962C8B-B14F-4D97-AF65-F5344CB8AC3E}">
        <p14:creationId xmlns:p14="http://schemas.microsoft.com/office/powerpoint/2010/main" val="651081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71" y="1050861"/>
            <a:ext cx="6856462" cy="575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공정 데이터 분석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183CB99E-EFBC-48AA-AE92-15E21643FE10}"/>
              </a:ext>
            </a:extLst>
          </p:cNvPr>
          <p:cNvSpPr txBox="1"/>
          <p:nvPr/>
        </p:nvSpPr>
        <p:spPr>
          <a:xfrm>
            <a:off x="1691791" y="2021282"/>
            <a:ext cx="11398397" cy="60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그래프를 통한 가공 및 적재 데이터 시각화</a:t>
            </a:r>
          </a:p>
        </p:txBody>
      </p:sp>
      <p:sp>
        <p:nvSpPr>
          <p:cNvPr id="13" name="Freeform 44">
            <a:extLst>
              <a:ext uri="{FF2B5EF4-FFF2-40B4-BE49-F238E27FC236}">
                <a16:creationId xmlns:a16="http://schemas.microsoft.com/office/drawing/2014/main" id="{24D48324-1058-4BDE-82D4-13E5B709AB23}"/>
              </a:ext>
            </a:extLst>
          </p:cNvPr>
          <p:cNvSpPr/>
          <p:nvPr/>
        </p:nvSpPr>
        <p:spPr>
          <a:xfrm>
            <a:off x="1323182" y="2298760"/>
            <a:ext cx="189836" cy="144749"/>
          </a:xfrm>
          <a:custGeom>
            <a:avLst/>
            <a:gdLst/>
            <a:ahLst/>
            <a:cxnLst/>
            <a:rect l="l" t="t" r="r" b="b"/>
            <a:pathLst>
              <a:path w="253114" h="192999">
                <a:moveTo>
                  <a:pt x="0" y="0"/>
                </a:moveTo>
                <a:lnTo>
                  <a:pt x="253114" y="0"/>
                </a:lnTo>
                <a:lnTo>
                  <a:pt x="253114" y="193000"/>
                </a:lnTo>
                <a:lnTo>
                  <a:pt x="0" y="19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57040F-E420-420A-BF13-0FD24EBDA0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900" y="2997636"/>
            <a:ext cx="8458200" cy="616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80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71" y="1050861"/>
            <a:ext cx="6856462" cy="575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공정 데이터 분석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183CB99E-EFBC-48AA-AE92-15E21643FE10}"/>
              </a:ext>
            </a:extLst>
          </p:cNvPr>
          <p:cNvSpPr txBox="1"/>
          <p:nvPr/>
        </p:nvSpPr>
        <p:spPr>
          <a:xfrm>
            <a:off x="1691791" y="2021282"/>
            <a:ext cx="11398397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평균값 그래프가 직선이 되도록 하기 위해 </a:t>
            </a:r>
            <a:endParaRPr lang="en-US" altLang="ko-KR" sz="3000" spc="-57" dirty="0">
              <a:solidFill>
                <a:schemeClr val="tx1">
                  <a:alpha val="61961"/>
                </a:schemeClr>
              </a:solidFill>
              <a:latin typeface="JASO Sans"/>
              <a:ea typeface="JASO Sans"/>
              <a:cs typeface="Segoe UI Semibold" panose="020B0702040204020203" pitchFamily="34" charset="0"/>
              <a:sym typeface="JASO Sans"/>
            </a:endParaRPr>
          </a:p>
          <a:p>
            <a:pPr>
              <a:lnSpc>
                <a:spcPct val="150000"/>
              </a:lnSpc>
            </a:pPr>
            <a:r>
              <a:rPr lang="ko-KR" altLang="en-US" sz="3000" b="1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총 합</a:t>
            </a:r>
            <a:r>
              <a:rPr lang="ko-KR" altLang="en-US" sz="3000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 레지스터</a:t>
            </a:r>
            <a:r>
              <a:rPr lang="en-US" altLang="ko-KR" sz="3000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(D4003)</a:t>
            </a:r>
            <a:r>
              <a:rPr lang="ko-KR" altLang="en-US" sz="3000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와 </a:t>
            </a:r>
            <a:r>
              <a:rPr lang="ko-KR" altLang="en-US" sz="3000" b="1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개수</a:t>
            </a:r>
            <a:r>
              <a:rPr lang="ko-KR" altLang="en-US" sz="3000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 레지스터</a:t>
            </a:r>
            <a:r>
              <a:rPr lang="en-US" altLang="ko-KR" sz="3000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(D4004)</a:t>
            </a:r>
            <a:r>
              <a:rPr lang="ko-KR" altLang="en-US" sz="3000" spc="-57" dirty="0">
                <a:solidFill>
                  <a:schemeClr val="tx1">
                    <a:alpha val="61961"/>
                  </a:schemeClr>
                </a:solidFill>
                <a:latin typeface="JASO Sans"/>
                <a:ea typeface="JASO Sans"/>
                <a:cs typeface="Segoe UI Semibold" panose="020B0702040204020203" pitchFamily="34" charset="0"/>
                <a:sym typeface="JASO Sans"/>
              </a:rPr>
              <a:t> 사용</a:t>
            </a:r>
          </a:p>
        </p:txBody>
      </p:sp>
      <p:sp>
        <p:nvSpPr>
          <p:cNvPr id="13" name="Freeform 44">
            <a:extLst>
              <a:ext uri="{FF2B5EF4-FFF2-40B4-BE49-F238E27FC236}">
                <a16:creationId xmlns:a16="http://schemas.microsoft.com/office/drawing/2014/main" id="{24D48324-1058-4BDE-82D4-13E5B709AB23}"/>
              </a:ext>
            </a:extLst>
          </p:cNvPr>
          <p:cNvSpPr/>
          <p:nvPr/>
        </p:nvSpPr>
        <p:spPr>
          <a:xfrm>
            <a:off x="1323182" y="2298760"/>
            <a:ext cx="189836" cy="144749"/>
          </a:xfrm>
          <a:custGeom>
            <a:avLst/>
            <a:gdLst/>
            <a:ahLst/>
            <a:cxnLst/>
            <a:rect l="l" t="t" r="r" b="b"/>
            <a:pathLst>
              <a:path w="253114" h="192999">
                <a:moveTo>
                  <a:pt x="0" y="0"/>
                </a:moveTo>
                <a:lnTo>
                  <a:pt x="253114" y="0"/>
                </a:lnTo>
                <a:lnTo>
                  <a:pt x="253114" y="193000"/>
                </a:lnTo>
                <a:lnTo>
                  <a:pt x="0" y="19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A9AC04-2987-4A8B-9FEC-2985E0A4E7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6" y="3599699"/>
            <a:ext cx="12467400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13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71" y="1050861"/>
            <a:ext cx="6856462" cy="575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ko-KR" altLang="en-US" sz="4222" b="1" spc="-194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비상 정지 버튼</a:t>
            </a:r>
            <a:endParaRPr lang="en-US" sz="4222" b="1" spc="-194" dirty="0">
              <a:solidFill>
                <a:srgbClr val="4D4D4D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183CB99E-EFBC-48AA-AE92-15E21643FE10}"/>
              </a:ext>
            </a:extLst>
          </p:cNvPr>
          <p:cNvSpPr txBox="1"/>
          <p:nvPr/>
        </p:nvSpPr>
        <p:spPr>
          <a:xfrm>
            <a:off x="1691791" y="2155061"/>
            <a:ext cx="11398397" cy="152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ko-KR" altLang="en-US" sz="3000" spc="-57" dirty="0">
                <a:solidFill>
                  <a:schemeClr val="tx1">
                    <a:alpha val="61961"/>
                  </a:schemeClr>
                </a:solidFill>
                <a:latin typeface="+mn-ea"/>
                <a:cs typeface="Segoe UI Semibold" panose="020B0702040204020203" pitchFamily="34" charset="0"/>
                <a:sym typeface="JASO Sans"/>
              </a:rPr>
              <a:t>비상 정지 버튼을 누르면 </a:t>
            </a:r>
            <a:endParaRPr lang="en-US" altLang="ko-KR" sz="3000" spc="-57" dirty="0">
              <a:solidFill>
                <a:schemeClr val="tx1">
                  <a:alpha val="61961"/>
                </a:schemeClr>
              </a:solidFill>
              <a:latin typeface="+mn-ea"/>
              <a:cs typeface="Segoe UI Semibold" panose="020B0702040204020203" pitchFamily="34" charset="0"/>
              <a:sym typeface="JASO Sans"/>
            </a:endParaRPr>
          </a:p>
          <a:p>
            <a:r>
              <a:rPr lang="en-US" altLang="ko-KR" sz="3000" spc="-57" dirty="0">
                <a:solidFill>
                  <a:schemeClr val="tx1">
                    <a:alpha val="61961"/>
                  </a:schemeClr>
                </a:solidFill>
                <a:latin typeface="+mn-ea"/>
                <a:cs typeface="Segoe UI Semibold" panose="020B0702040204020203" pitchFamily="34" charset="0"/>
                <a:sym typeface="JASO Sans"/>
              </a:rPr>
              <a:t>- </a:t>
            </a:r>
            <a:r>
              <a:rPr lang="ko-KR" altLang="en-US" sz="3000" spc="-57" dirty="0">
                <a:solidFill>
                  <a:schemeClr val="tx1">
                    <a:alpha val="61961"/>
                  </a:schemeClr>
                </a:solidFill>
                <a:latin typeface="+mn-ea"/>
                <a:cs typeface="Segoe UI Semibold" panose="020B0702040204020203" pitchFamily="34" charset="0"/>
                <a:sym typeface="JASO Sans"/>
              </a:rPr>
              <a:t>모든 실린더는 후진</a:t>
            </a:r>
            <a:r>
              <a:rPr lang="en-US" altLang="ko-KR" sz="3000" spc="-57" dirty="0">
                <a:solidFill>
                  <a:schemeClr val="tx1">
                    <a:alpha val="61961"/>
                  </a:schemeClr>
                </a:solidFill>
                <a:latin typeface="+mn-ea"/>
                <a:cs typeface="Segoe UI Semibold" panose="020B0702040204020203" pitchFamily="34" charset="0"/>
                <a:sym typeface="JASO Sans"/>
              </a:rPr>
              <a:t>, </a:t>
            </a:r>
            <a:r>
              <a:rPr lang="ko-KR" altLang="en-US" sz="3000" spc="-57" dirty="0" err="1">
                <a:solidFill>
                  <a:schemeClr val="tx1">
                    <a:alpha val="61961"/>
                  </a:schemeClr>
                </a:solidFill>
                <a:latin typeface="+mn-ea"/>
                <a:cs typeface="Segoe UI Semibold" panose="020B0702040204020203" pitchFamily="34" charset="0"/>
                <a:sym typeface="JASO Sans"/>
              </a:rPr>
              <a:t>서보</a:t>
            </a:r>
            <a:r>
              <a:rPr lang="ko-KR" altLang="en-US" sz="3000" spc="-57" dirty="0">
                <a:solidFill>
                  <a:schemeClr val="tx1">
                    <a:alpha val="61961"/>
                  </a:schemeClr>
                </a:solidFill>
                <a:latin typeface="+mn-ea"/>
                <a:cs typeface="Segoe UI Semibold" panose="020B0702040204020203" pitchFamily="34" charset="0"/>
                <a:sym typeface="JASO Sans"/>
              </a:rPr>
              <a:t> 모터는 정지</a:t>
            </a:r>
            <a:endParaRPr lang="en-US" altLang="ko-KR" sz="3000" spc="-57" dirty="0">
              <a:solidFill>
                <a:schemeClr val="tx1">
                  <a:alpha val="61961"/>
                </a:schemeClr>
              </a:solidFill>
              <a:latin typeface="+mn-ea"/>
              <a:cs typeface="Segoe UI Semibold" panose="020B0702040204020203" pitchFamily="34" charset="0"/>
              <a:sym typeface="JASO Sans"/>
            </a:endParaRPr>
          </a:p>
          <a:p>
            <a:pPr>
              <a:lnSpc>
                <a:spcPct val="150000"/>
              </a:lnSpc>
            </a:pPr>
            <a:r>
              <a:rPr lang="ko-KR" altLang="en-US" sz="3000" spc="-57" dirty="0">
                <a:solidFill>
                  <a:schemeClr val="tx1">
                    <a:alpha val="61961"/>
                  </a:schemeClr>
                </a:solidFill>
                <a:latin typeface="+mn-ea"/>
                <a:cs typeface="Segoe UI Semibold" panose="020B0702040204020203" pitchFamily="34" charset="0"/>
                <a:sym typeface="JASO Sans"/>
              </a:rPr>
              <a:t>완료 후</a:t>
            </a:r>
            <a:r>
              <a:rPr lang="en-US" altLang="ko-KR" sz="3000" spc="-57" dirty="0">
                <a:solidFill>
                  <a:schemeClr val="tx1">
                    <a:alpha val="61961"/>
                  </a:schemeClr>
                </a:solidFill>
                <a:latin typeface="+mn-ea"/>
                <a:cs typeface="Segoe UI Semibold" panose="020B0702040204020203" pitchFamily="34" charset="0"/>
                <a:sym typeface="JASO Sans"/>
              </a:rPr>
              <a:t>: </a:t>
            </a:r>
            <a:r>
              <a:rPr lang="ko-KR" altLang="en-US" sz="3000" spc="-57" dirty="0">
                <a:solidFill>
                  <a:schemeClr val="tx1">
                    <a:alpha val="61961"/>
                  </a:schemeClr>
                </a:solidFill>
                <a:latin typeface="+mn-ea"/>
                <a:cs typeface="Segoe UI Semibold" panose="020B0702040204020203" pitchFamily="34" charset="0"/>
                <a:sym typeface="JASO Sans"/>
              </a:rPr>
              <a:t>이어서 진행</a:t>
            </a:r>
          </a:p>
        </p:txBody>
      </p:sp>
      <p:sp>
        <p:nvSpPr>
          <p:cNvPr id="13" name="Freeform 44">
            <a:extLst>
              <a:ext uri="{FF2B5EF4-FFF2-40B4-BE49-F238E27FC236}">
                <a16:creationId xmlns:a16="http://schemas.microsoft.com/office/drawing/2014/main" id="{24D48324-1058-4BDE-82D4-13E5B709AB23}"/>
              </a:ext>
            </a:extLst>
          </p:cNvPr>
          <p:cNvSpPr/>
          <p:nvPr/>
        </p:nvSpPr>
        <p:spPr>
          <a:xfrm>
            <a:off x="1323182" y="2298760"/>
            <a:ext cx="189836" cy="144749"/>
          </a:xfrm>
          <a:custGeom>
            <a:avLst/>
            <a:gdLst/>
            <a:ahLst/>
            <a:cxnLst/>
            <a:rect l="l" t="t" r="r" b="b"/>
            <a:pathLst>
              <a:path w="253114" h="192999">
                <a:moveTo>
                  <a:pt x="0" y="0"/>
                </a:moveTo>
                <a:lnTo>
                  <a:pt x="253114" y="0"/>
                </a:lnTo>
                <a:lnTo>
                  <a:pt x="253114" y="193000"/>
                </a:lnTo>
                <a:lnTo>
                  <a:pt x="0" y="19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44">
            <a:extLst>
              <a:ext uri="{FF2B5EF4-FFF2-40B4-BE49-F238E27FC236}">
                <a16:creationId xmlns:a16="http://schemas.microsoft.com/office/drawing/2014/main" id="{C71B955B-EDB8-43A0-A8A5-9F33B3599C21}"/>
              </a:ext>
            </a:extLst>
          </p:cNvPr>
          <p:cNvSpPr/>
          <p:nvPr/>
        </p:nvSpPr>
        <p:spPr>
          <a:xfrm>
            <a:off x="1330173" y="3378859"/>
            <a:ext cx="189836" cy="144749"/>
          </a:xfrm>
          <a:custGeom>
            <a:avLst/>
            <a:gdLst/>
            <a:ahLst/>
            <a:cxnLst/>
            <a:rect l="l" t="t" r="r" b="b"/>
            <a:pathLst>
              <a:path w="253114" h="192999">
                <a:moveTo>
                  <a:pt x="0" y="0"/>
                </a:moveTo>
                <a:lnTo>
                  <a:pt x="253114" y="0"/>
                </a:lnTo>
                <a:lnTo>
                  <a:pt x="253114" y="193000"/>
                </a:lnTo>
                <a:lnTo>
                  <a:pt x="0" y="19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65697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배경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31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594BA63D-781E-46B2-B0A0-BB74A68ECC05}"/>
              </a:ext>
            </a:extLst>
          </p:cNvPr>
          <p:cNvSpPr/>
          <p:nvPr/>
        </p:nvSpPr>
        <p:spPr>
          <a:xfrm flipH="1">
            <a:off x="1034441" y="1920580"/>
            <a:ext cx="11658067" cy="0"/>
          </a:xfrm>
          <a:prstGeom prst="line">
            <a:avLst/>
          </a:prstGeom>
          <a:ln w="19050" cap="flat">
            <a:solidFill>
              <a:srgbClr val="4D4D4D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81D33505-A895-4800-B01E-520E5C81D158}"/>
              </a:ext>
            </a:extLst>
          </p:cNvPr>
          <p:cNvSpPr txBox="1"/>
          <p:nvPr/>
        </p:nvSpPr>
        <p:spPr>
          <a:xfrm rot="-18144">
            <a:off x="1525471" y="1063140"/>
            <a:ext cx="6856462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07"/>
              </a:lnSpc>
              <a:spcBef>
                <a:spcPct val="0"/>
              </a:spcBef>
            </a:pPr>
            <a:r>
              <a:rPr lang="en-US" altLang="ko-KR" sz="4222" b="1" spc="-194" dirty="0">
                <a:solidFill>
                  <a:srgbClr val="4D4D4D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sym typeface="둥근펜 Bold"/>
              </a:rPr>
              <a:t>Troubleshooting </a:t>
            </a:r>
            <a:r>
              <a:rPr lang="ko-KR" altLang="en-US" sz="4222" b="1" spc="-194" dirty="0">
                <a:solidFill>
                  <a:srgbClr val="4D4D4D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sym typeface="둥근펜 Bold"/>
              </a:rPr>
              <a:t>사례</a:t>
            </a:r>
            <a:r>
              <a:rPr lang="en-US" altLang="ko-KR" sz="4222" b="1" spc="-194" dirty="0">
                <a:solidFill>
                  <a:srgbClr val="4D4D4D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sym typeface="둥근펜 Bold"/>
              </a:rPr>
              <a:t> </a:t>
            </a:r>
            <a:endParaRPr lang="en-US" sz="4222" b="1" spc="-194" dirty="0">
              <a:solidFill>
                <a:srgbClr val="4D4D4D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  <a:sym typeface="둥근펜 Bold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19938A8-132F-45CC-BB12-543AC660434C}"/>
              </a:ext>
            </a:extLst>
          </p:cNvPr>
          <p:cNvSpPr/>
          <p:nvPr/>
        </p:nvSpPr>
        <p:spPr>
          <a:xfrm>
            <a:off x="1121688" y="1190334"/>
            <a:ext cx="251103" cy="242643"/>
          </a:xfrm>
          <a:prstGeom prst="ellipse">
            <a:avLst/>
          </a:prstGeom>
          <a:solidFill>
            <a:srgbClr val="5CC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DD7A16A-D231-450E-AD09-C331308CF60F}"/>
              </a:ext>
            </a:extLst>
          </p:cNvPr>
          <p:cNvGrpSpPr/>
          <p:nvPr/>
        </p:nvGrpSpPr>
        <p:grpSpPr>
          <a:xfrm>
            <a:off x="1121689" y="3927272"/>
            <a:ext cx="11398397" cy="1006763"/>
            <a:chOff x="1260773" y="5211157"/>
            <a:chExt cx="11398397" cy="1006763"/>
          </a:xfrm>
        </p:grpSpPr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52C99288-A33C-4E2C-BB3F-1F00FF54AF79}"/>
                </a:ext>
              </a:extLst>
            </p:cNvPr>
            <p:cNvSpPr/>
            <p:nvPr/>
          </p:nvSpPr>
          <p:spPr>
            <a:xfrm>
              <a:off x="1260773" y="5211157"/>
              <a:ext cx="11398397" cy="1006763"/>
            </a:xfrm>
            <a:custGeom>
              <a:avLst/>
              <a:gdLst/>
              <a:ahLst/>
              <a:cxnLst/>
              <a:rect l="l" t="t" r="r" b="b"/>
              <a:pathLst>
                <a:path w="4002729" h="318313">
                  <a:moveTo>
                    <a:pt x="9169" y="0"/>
                  </a:moveTo>
                  <a:lnTo>
                    <a:pt x="3993560" y="0"/>
                  </a:lnTo>
                  <a:cubicBezTo>
                    <a:pt x="3995991" y="0"/>
                    <a:pt x="3998324" y="966"/>
                    <a:pt x="4000043" y="2686"/>
                  </a:cubicBezTo>
                  <a:cubicBezTo>
                    <a:pt x="4001763" y="4405"/>
                    <a:pt x="4002729" y="6737"/>
                    <a:pt x="4002729" y="9169"/>
                  </a:cubicBezTo>
                  <a:lnTo>
                    <a:pt x="4002729" y="309144"/>
                  </a:lnTo>
                  <a:cubicBezTo>
                    <a:pt x="4002729" y="311576"/>
                    <a:pt x="4001763" y="313908"/>
                    <a:pt x="4000043" y="315628"/>
                  </a:cubicBezTo>
                  <a:cubicBezTo>
                    <a:pt x="3998324" y="317347"/>
                    <a:pt x="3995991" y="318313"/>
                    <a:pt x="3993560" y="318313"/>
                  </a:cubicBezTo>
                  <a:lnTo>
                    <a:pt x="9169" y="318313"/>
                  </a:lnTo>
                  <a:cubicBezTo>
                    <a:pt x="6737" y="318313"/>
                    <a:pt x="4405" y="317347"/>
                    <a:pt x="2686" y="315628"/>
                  </a:cubicBezTo>
                  <a:cubicBezTo>
                    <a:pt x="966" y="313908"/>
                    <a:pt x="0" y="311576"/>
                    <a:pt x="0" y="309144"/>
                  </a:cubicBezTo>
                  <a:lnTo>
                    <a:pt x="0" y="9169"/>
                  </a:lnTo>
                  <a:cubicBezTo>
                    <a:pt x="0" y="6737"/>
                    <a:pt x="966" y="4405"/>
                    <a:pt x="2686" y="2686"/>
                  </a:cubicBezTo>
                  <a:cubicBezTo>
                    <a:pt x="4405" y="966"/>
                    <a:pt x="6737" y="0"/>
                    <a:pt x="9169" y="0"/>
                  </a:cubicBezTo>
                  <a:close/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28">
              <a:extLst>
                <a:ext uri="{FF2B5EF4-FFF2-40B4-BE49-F238E27FC236}">
                  <a16:creationId xmlns:a16="http://schemas.microsoft.com/office/drawing/2014/main" id="{196CDAAE-153F-4F51-B3F7-ECBC9D9E8665}"/>
                </a:ext>
              </a:extLst>
            </p:cNvPr>
            <p:cNvSpPr txBox="1"/>
            <p:nvPr/>
          </p:nvSpPr>
          <p:spPr>
            <a:xfrm>
              <a:off x="1936103" y="5553405"/>
              <a:ext cx="591863" cy="3241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501"/>
                </a:lnSpc>
              </a:pPr>
              <a:r>
                <a:rPr lang="ko-KR" altLang="en-US" sz="2175" b="1" spc="26" dirty="0">
                  <a:solidFill>
                    <a:srgbClr val="4D4D4D"/>
                  </a:solidFill>
                  <a:latin typeface="둥근펜 Bold"/>
                  <a:ea typeface="둥근펜 Bold"/>
                  <a:cs typeface="둥근펜 Bold"/>
                  <a:sym typeface="둥근펜 Bold"/>
                </a:rPr>
                <a:t>현상</a:t>
              </a:r>
              <a:r>
                <a:rPr lang="en-US" altLang="ko-KR" sz="2175" b="1" spc="26" dirty="0">
                  <a:solidFill>
                    <a:srgbClr val="4D4D4D"/>
                  </a:solidFill>
                  <a:latin typeface="둥근펜 Bold"/>
                  <a:ea typeface="둥근펜 Bold"/>
                  <a:cs typeface="둥근펜 Bold"/>
                  <a:sym typeface="둥근펜 Bold"/>
                </a:rPr>
                <a:t>:</a:t>
              </a:r>
              <a:endParaRPr lang="en-US" sz="2175" b="1" spc="26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endParaRPr>
            </a:p>
          </p:txBody>
        </p:sp>
        <p:sp>
          <p:nvSpPr>
            <p:cNvPr id="18" name="Freeform 31">
              <a:extLst>
                <a:ext uri="{FF2B5EF4-FFF2-40B4-BE49-F238E27FC236}">
                  <a16:creationId xmlns:a16="http://schemas.microsoft.com/office/drawing/2014/main" id="{D418B798-EB7A-4B3C-9052-B1B3141BBE53}"/>
                </a:ext>
              </a:extLst>
            </p:cNvPr>
            <p:cNvSpPr/>
            <p:nvPr/>
          </p:nvSpPr>
          <p:spPr>
            <a:xfrm>
              <a:off x="1672353" y="5632357"/>
              <a:ext cx="128241" cy="97784"/>
            </a:xfrm>
            <a:custGeom>
              <a:avLst/>
              <a:gdLst/>
              <a:ahLst/>
              <a:cxnLst/>
              <a:rect l="l" t="t" r="r" b="b"/>
              <a:pathLst>
                <a:path w="170988" h="130378">
                  <a:moveTo>
                    <a:pt x="0" y="0"/>
                  </a:moveTo>
                  <a:lnTo>
                    <a:pt x="170988" y="0"/>
                  </a:lnTo>
                  <a:lnTo>
                    <a:pt x="170988" y="130379"/>
                  </a:lnTo>
                  <a:lnTo>
                    <a:pt x="0" y="130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8C4EEDB-AC6B-47A7-AEA4-666FCB8AC657}"/>
                </a:ext>
              </a:extLst>
            </p:cNvPr>
            <p:cNvSpPr txBox="1"/>
            <p:nvPr/>
          </p:nvSpPr>
          <p:spPr>
            <a:xfrm>
              <a:off x="3030684" y="5412425"/>
              <a:ext cx="86609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연속 동작 시</a:t>
              </a:r>
              <a:r>
                <a:rPr lang="en-US" altLang="ko-KR" dirty="0"/>
                <a:t>,</a:t>
              </a:r>
              <a:r>
                <a:rPr lang="ko-KR" altLang="en-US" dirty="0"/>
                <a:t>위치결정</a:t>
              </a:r>
              <a:r>
                <a:rPr lang="en-US" altLang="ko-KR" dirty="0"/>
                <a:t>(ZP.PSTRT1) </a:t>
              </a:r>
              <a:r>
                <a:rPr lang="ko-KR" altLang="en-US" dirty="0"/>
                <a:t>명령 실행 후 다음 위치결정 명령 실행 시 </a:t>
              </a:r>
              <a:r>
                <a:rPr lang="ko-KR" altLang="en-US" dirty="0" err="1"/>
                <a:t>서보모터가</a:t>
              </a:r>
              <a:r>
                <a:rPr lang="ko-KR" altLang="en-US" dirty="0"/>
                <a:t> 움직이지 않는 현상 발생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CF637EB-482F-471B-86F5-D60CD0EC01DA}"/>
              </a:ext>
            </a:extLst>
          </p:cNvPr>
          <p:cNvGrpSpPr/>
          <p:nvPr/>
        </p:nvGrpSpPr>
        <p:grpSpPr>
          <a:xfrm>
            <a:off x="1121688" y="5131824"/>
            <a:ext cx="11398397" cy="1006763"/>
            <a:chOff x="1260773" y="5211157"/>
            <a:chExt cx="11398397" cy="1006763"/>
          </a:xfrm>
        </p:grpSpPr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E086CFFD-87F1-40BE-BA04-0DBB87591E5C}"/>
                </a:ext>
              </a:extLst>
            </p:cNvPr>
            <p:cNvSpPr/>
            <p:nvPr/>
          </p:nvSpPr>
          <p:spPr>
            <a:xfrm>
              <a:off x="1260773" y="5211157"/>
              <a:ext cx="11398397" cy="1006763"/>
            </a:xfrm>
            <a:custGeom>
              <a:avLst/>
              <a:gdLst/>
              <a:ahLst/>
              <a:cxnLst/>
              <a:rect l="l" t="t" r="r" b="b"/>
              <a:pathLst>
                <a:path w="4002729" h="318313">
                  <a:moveTo>
                    <a:pt x="9169" y="0"/>
                  </a:moveTo>
                  <a:lnTo>
                    <a:pt x="3993560" y="0"/>
                  </a:lnTo>
                  <a:cubicBezTo>
                    <a:pt x="3995991" y="0"/>
                    <a:pt x="3998324" y="966"/>
                    <a:pt x="4000043" y="2686"/>
                  </a:cubicBezTo>
                  <a:cubicBezTo>
                    <a:pt x="4001763" y="4405"/>
                    <a:pt x="4002729" y="6737"/>
                    <a:pt x="4002729" y="9169"/>
                  </a:cubicBezTo>
                  <a:lnTo>
                    <a:pt x="4002729" y="309144"/>
                  </a:lnTo>
                  <a:cubicBezTo>
                    <a:pt x="4002729" y="311576"/>
                    <a:pt x="4001763" y="313908"/>
                    <a:pt x="4000043" y="315628"/>
                  </a:cubicBezTo>
                  <a:cubicBezTo>
                    <a:pt x="3998324" y="317347"/>
                    <a:pt x="3995991" y="318313"/>
                    <a:pt x="3993560" y="318313"/>
                  </a:cubicBezTo>
                  <a:lnTo>
                    <a:pt x="9169" y="318313"/>
                  </a:lnTo>
                  <a:cubicBezTo>
                    <a:pt x="6737" y="318313"/>
                    <a:pt x="4405" y="317347"/>
                    <a:pt x="2686" y="315628"/>
                  </a:cubicBezTo>
                  <a:cubicBezTo>
                    <a:pt x="966" y="313908"/>
                    <a:pt x="0" y="311576"/>
                    <a:pt x="0" y="309144"/>
                  </a:cubicBezTo>
                  <a:lnTo>
                    <a:pt x="0" y="9169"/>
                  </a:lnTo>
                  <a:cubicBezTo>
                    <a:pt x="0" y="6737"/>
                    <a:pt x="966" y="4405"/>
                    <a:pt x="2686" y="2686"/>
                  </a:cubicBezTo>
                  <a:cubicBezTo>
                    <a:pt x="4405" y="966"/>
                    <a:pt x="6737" y="0"/>
                    <a:pt x="9169" y="0"/>
                  </a:cubicBezTo>
                  <a:close/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8">
              <a:extLst>
                <a:ext uri="{FF2B5EF4-FFF2-40B4-BE49-F238E27FC236}">
                  <a16:creationId xmlns:a16="http://schemas.microsoft.com/office/drawing/2014/main" id="{E7F64886-8EB2-4D68-9C16-72F30B57756E}"/>
                </a:ext>
              </a:extLst>
            </p:cNvPr>
            <p:cNvSpPr txBox="1"/>
            <p:nvPr/>
          </p:nvSpPr>
          <p:spPr>
            <a:xfrm>
              <a:off x="1936103" y="5553405"/>
              <a:ext cx="591863" cy="3241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501"/>
                </a:lnSpc>
              </a:pPr>
              <a:r>
                <a:rPr lang="ko-KR" altLang="en-US" sz="2175" b="1" spc="26" dirty="0">
                  <a:solidFill>
                    <a:srgbClr val="4D4D4D"/>
                  </a:solidFill>
                  <a:latin typeface="둥근펜 Bold"/>
                  <a:ea typeface="둥근펜 Bold"/>
                  <a:cs typeface="둥근펜 Bold"/>
                  <a:sym typeface="둥근펜 Bold"/>
                </a:rPr>
                <a:t>원인</a:t>
              </a:r>
              <a:r>
                <a:rPr lang="en-US" altLang="ko-KR" sz="2175" b="1" spc="26" dirty="0">
                  <a:solidFill>
                    <a:srgbClr val="4D4D4D"/>
                  </a:solidFill>
                  <a:latin typeface="둥근펜 Bold"/>
                  <a:ea typeface="둥근펜 Bold"/>
                  <a:cs typeface="둥근펜 Bold"/>
                  <a:sym typeface="둥근펜 Bold"/>
                </a:rPr>
                <a:t>:</a:t>
              </a:r>
              <a:endParaRPr lang="en-US" sz="2175" b="1" spc="26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F3006CB7-F43B-44CC-AF0C-03A3BEC2451A}"/>
                </a:ext>
              </a:extLst>
            </p:cNvPr>
            <p:cNvSpPr/>
            <p:nvPr/>
          </p:nvSpPr>
          <p:spPr>
            <a:xfrm>
              <a:off x="1672353" y="5632357"/>
              <a:ext cx="128241" cy="97784"/>
            </a:xfrm>
            <a:custGeom>
              <a:avLst/>
              <a:gdLst/>
              <a:ahLst/>
              <a:cxnLst/>
              <a:rect l="l" t="t" r="r" b="b"/>
              <a:pathLst>
                <a:path w="170988" h="130378">
                  <a:moveTo>
                    <a:pt x="0" y="0"/>
                  </a:moveTo>
                  <a:lnTo>
                    <a:pt x="170988" y="0"/>
                  </a:lnTo>
                  <a:lnTo>
                    <a:pt x="170988" y="130379"/>
                  </a:lnTo>
                  <a:lnTo>
                    <a:pt x="0" y="130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FB6D039-49A8-44F7-B44B-8E402737F859}"/>
                </a:ext>
              </a:extLst>
            </p:cNvPr>
            <p:cNvSpPr txBox="1"/>
            <p:nvPr/>
          </p:nvSpPr>
          <p:spPr>
            <a:xfrm>
              <a:off x="3030684" y="5412425"/>
              <a:ext cx="86609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위치결정 모듈</a:t>
              </a:r>
              <a:r>
                <a:rPr lang="en-US" altLang="ko-KR" dirty="0"/>
                <a:t>(QD77)</a:t>
              </a:r>
              <a:r>
                <a:rPr lang="ko-KR" altLang="en-US" dirty="0"/>
                <a:t>이 이전 명령을 처리하고 </a:t>
              </a:r>
              <a:r>
                <a:rPr lang="en-US" altLang="ko-KR" dirty="0"/>
                <a:t>'Ready' </a:t>
              </a:r>
              <a:r>
                <a:rPr lang="ko-KR" altLang="en-US" dirty="0"/>
                <a:t>상태로 돌아오기 전에 다음 명령이 너무 빨리 들어간다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617DFB9-8ED2-4A5F-B457-8C0EDB43DF07}"/>
              </a:ext>
            </a:extLst>
          </p:cNvPr>
          <p:cNvGrpSpPr/>
          <p:nvPr/>
        </p:nvGrpSpPr>
        <p:grpSpPr>
          <a:xfrm>
            <a:off x="1121688" y="6335687"/>
            <a:ext cx="11398397" cy="1006763"/>
            <a:chOff x="1260773" y="5211157"/>
            <a:chExt cx="11398397" cy="1006763"/>
          </a:xfrm>
        </p:grpSpPr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72BE753C-F191-47D4-AF99-BAF2136AF17B}"/>
                </a:ext>
              </a:extLst>
            </p:cNvPr>
            <p:cNvSpPr/>
            <p:nvPr/>
          </p:nvSpPr>
          <p:spPr>
            <a:xfrm>
              <a:off x="1260773" y="5211157"/>
              <a:ext cx="11398397" cy="1006763"/>
            </a:xfrm>
            <a:custGeom>
              <a:avLst/>
              <a:gdLst/>
              <a:ahLst/>
              <a:cxnLst/>
              <a:rect l="l" t="t" r="r" b="b"/>
              <a:pathLst>
                <a:path w="4002729" h="318313">
                  <a:moveTo>
                    <a:pt x="9169" y="0"/>
                  </a:moveTo>
                  <a:lnTo>
                    <a:pt x="3993560" y="0"/>
                  </a:lnTo>
                  <a:cubicBezTo>
                    <a:pt x="3995991" y="0"/>
                    <a:pt x="3998324" y="966"/>
                    <a:pt x="4000043" y="2686"/>
                  </a:cubicBezTo>
                  <a:cubicBezTo>
                    <a:pt x="4001763" y="4405"/>
                    <a:pt x="4002729" y="6737"/>
                    <a:pt x="4002729" y="9169"/>
                  </a:cubicBezTo>
                  <a:lnTo>
                    <a:pt x="4002729" y="309144"/>
                  </a:lnTo>
                  <a:cubicBezTo>
                    <a:pt x="4002729" y="311576"/>
                    <a:pt x="4001763" y="313908"/>
                    <a:pt x="4000043" y="315628"/>
                  </a:cubicBezTo>
                  <a:cubicBezTo>
                    <a:pt x="3998324" y="317347"/>
                    <a:pt x="3995991" y="318313"/>
                    <a:pt x="3993560" y="318313"/>
                  </a:cubicBezTo>
                  <a:lnTo>
                    <a:pt x="9169" y="318313"/>
                  </a:lnTo>
                  <a:cubicBezTo>
                    <a:pt x="6737" y="318313"/>
                    <a:pt x="4405" y="317347"/>
                    <a:pt x="2686" y="315628"/>
                  </a:cubicBezTo>
                  <a:cubicBezTo>
                    <a:pt x="966" y="313908"/>
                    <a:pt x="0" y="311576"/>
                    <a:pt x="0" y="309144"/>
                  </a:cubicBezTo>
                  <a:lnTo>
                    <a:pt x="0" y="9169"/>
                  </a:lnTo>
                  <a:cubicBezTo>
                    <a:pt x="0" y="6737"/>
                    <a:pt x="966" y="4405"/>
                    <a:pt x="2686" y="2686"/>
                  </a:cubicBezTo>
                  <a:cubicBezTo>
                    <a:pt x="4405" y="966"/>
                    <a:pt x="6737" y="0"/>
                    <a:pt x="9169" y="0"/>
                  </a:cubicBezTo>
                  <a:close/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28">
              <a:extLst>
                <a:ext uri="{FF2B5EF4-FFF2-40B4-BE49-F238E27FC236}">
                  <a16:creationId xmlns:a16="http://schemas.microsoft.com/office/drawing/2014/main" id="{10DF193B-98F7-4A2A-AAD0-F1E396004AF3}"/>
                </a:ext>
              </a:extLst>
            </p:cNvPr>
            <p:cNvSpPr txBox="1"/>
            <p:nvPr/>
          </p:nvSpPr>
          <p:spPr>
            <a:xfrm>
              <a:off x="1936103" y="5553405"/>
              <a:ext cx="591863" cy="3241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501"/>
                </a:lnSpc>
              </a:pPr>
              <a:r>
                <a:rPr lang="ko-KR" altLang="en-US" sz="2175" b="1" spc="26" dirty="0">
                  <a:solidFill>
                    <a:srgbClr val="4D4D4D"/>
                  </a:solidFill>
                  <a:latin typeface="둥근펜 Bold"/>
                  <a:ea typeface="둥근펜 Bold"/>
                  <a:cs typeface="둥근펜 Bold"/>
                  <a:sym typeface="둥근펜 Bold"/>
                </a:rPr>
                <a:t>조치</a:t>
              </a:r>
              <a:endParaRPr lang="en-US" sz="2175" b="1" spc="26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D6006F3C-2907-4616-A3E5-25D1D7CC99C4}"/>
                </a:ext>
              </a:extLst>
            </p:cNvPr>
            <p:cNvSpPr/>
            <p:nvPr/>
          </p:nvSpPr>
          <p:spPr>
            <a:xfrm>
              <a:off x="1672353" y="5632357"/>
              <a:ext cx="128241" cy="97784"/>
            </a:xfrm>
            <a:custGeom>
              <a:avLst/>
              <a:gdLst/>
              <a:ahLst/>
              <a:cxnLst/>
              <a:rect l="l" t="t" r="r" b="b"/>
              <a:pathLst>
                <a:path w="170988" h="130378">
                  <a:moveTo>
                    <a:pt x="0" y="0"/>
                  </a:moveTo>
                  <a:lnTo>
                    <a:pt x="170988" y="0"/>
                  </a:lnTo>
                  <a:lnTo>
                    <a:pt x="170988" y="130379"/>
                  </a:lnTo>
                  <a:lnTo>
                    <a:pt x="0" y="130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1909159-0578-454C-9B38-52438DF9F7F4}"/>
                </a:ext>
              </a:extLst>
            </p:cNvPr>
            <p:cNvSpPr txBox="1"/>
            <p:nvPr/>
          </p:nvSpPr>
          <p:spPr>
            <a:xfrm>
              <a:off x="3030684" y="5508201"/>
              <a:ext cx="866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동작 전환 사이에 약 </a:t>
              </a:r>
              <a:r>
                <a:rPr lang="en-US" altLang="ko-KR" dirty="0"/>
                <a:t>0.5</a:t>
              </a:r>
              <a:r>
                <a:rPr lang="ko-KR" altLang="en-US" dirty="0"/>
                <a:t>초</a:t>
              </a:r>
              <a:r>
                <a:rPr lang="en-US" altLang="ko-KR" dirty="0"/>
                <a:t>(T K5)</a:t>
              </a:r>
              <a:r>
                <a:rPr lang="ko-KR" altLang="en-US" dirty="0"/>
                <a:t>의 인터벌 타이머를 추가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1943C0A-BBC1-44D1-9B28-F2F117E7BDEA}"/>
              </a:ext>
            </a:extLst>
          </p:cNvPr>
          <p:cNvGrpSpPr/>
          <p:nvPr/>
        </p:nvGrpSpPr>
        <p:grpSpPr>
          <a:xfrm>
            <a:off x="1121688" y="7639494"/>
            <a:ext cx="11398397" cy="1006763"/>
            <a:chOff x="1260773" y="5211157"/>
            <a:chExt cx="11398397" cy="1006763"/>
          </a:xfrm>
        </p:grpSpPr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9F61F155-BFAE-47A5-B82C-8DBDB12749F7}"/>
                </a:ext>
              </a:extLst>
            </p:cNvPr>
            <p:cNvSpPr/>
            <p:nvPr/>
          </p:nvSpPr>
          <p:spPr>
            <a:xfrm>
              <a:off x="1260773" y="5211157"/>
              <a:ext cx="11398397" cy="1006763"/>
            </a:xfrm>
            <a:custGeom>
              <a:avLst/>
              <a:gdLst/>
              <a:ahLst/>
              <a:cxnLst/>
              <a:rect l="l" t="t" r="r" b="b"/>
              <a:pathLst>
                <a:path w="4002729" h="318313">
                  <a:moveTo>
                    <a:pt x="9169" y="0"/>
                  </a:moveTo>
                  <a:lnTo>
                    <a:pt x="3993560" y="0"/>
                  </a:lnTo>
                  <a:cubicBezTo>
                    <a:pt x="3995991" y="0"/>
                    <a:pt x="3998324" y="966"/>
                    <a:pt x="4000043" y="2686"/>
                  </a:cubicBezTo>
                  <a:cubicBezTo>
                    <a:pt x="4001763" y="4405"/>
                    <a:pt x="4002729" y="6737"/>
                    <a:pt x="4002729" y="9169"/>
                  </a:cubicBezTo>
                  <a:lnTo>
                    <a:pt x="4002729" y="309144"/>
                  </a:lnTo>
                  <a:cubicBezTo>
                    <a:pt x="4002729" y="311576"/>
                    <a:pt x="4001763" y="313908"/>
                    <a:pt x="4000043" y="315628"/>
                  </a:cubicBezTo>
                  <a:cubicBezTo>
                    <a:pt x="3998324" y="317347"/>
                    <a:pt x="3995991" y="318313"/>
                    <a:pt x="3993560" y="318313"/>
                  </a:cubicBezTo>
                  <a:lnTo>
                    <a:pt x="9169" y="318313"/>
                  </a:lnTo>
                  <a:cubicBezTo>
                    <a:pt x="6737" y="318313"/>
                    <a:pt x="4405" y="317347"/>
                    <a:pt x="2686" y="315628"/>
                  </a:cubicBezTo>
                  <a:cubicBezTo>
                    <a:pt x="966" y="313908"/>
                    <a:pt x="0" y="311576"/>
                    <a:pt x="0" y="309144"/>
                  </a:cubicBezTo>
                  <a:lnTo>
                    <a:pt x="0" y="9169"/>
                  </a:lnTo>
                  <a:cubicBezTo>
                    <a:pt x="0" y="6737"/>
                    <a:pt x="966" y="4405"/>
                    <a:pt x="2686" y="2686"/>
                  </a:cubicBezTo>
                  <a:cubicBezTo>
                    <a:pt x="4405" y="966"/>
                    <a:pt x="6737" y="0"/>
                    <a:pt x="9169" y="0"/>
                  </a:cubicBezTo>
                  <a:close/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  <p:sp>
          <p:nvSpPr>
            <p:cNvPr id="35" name="TextBox 28">
              <a:extLst>
                <a:ext uri="{FF2B5EF4-FFF2-40B4-BE49-F238E27FC236}">
                  <a16:creationId xmlns:a16="http://schemas.microsoft.com/office/drawing/2014/main" id="{36E8A234-64C2-41BD-BF5C-3DC8A0156AF5}"/>
                </a:ext>
              </a:extLst>
            </p:cNvPr>
            <p:cNvSpPr txBox="1"/>
            <p:nvPr/>
          </p:nvSpPr>
          <p:spPr>
            <a:xfrm>
              <a:off x="1936103" y="5553405"/>
              <a:ext cx="591863" cy="3241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501"/>
                </a:lnSpc>
              </a:pPr>
              <a:r>
                <a:rPr lang="ko-KR" altLang="en-US" sz="2175" b="1" spc="26" dirty="0">
                  <a:solidFill>
                    <a:srgbClr val="4D4D4D"/>
                  </a:solidFill>
                  <a:latin typeface="둥근펜 Bold"/>
                  <a:ea typeface="둥근펜 Bold"/>
                  <a:cs typeface="둥근펜 Bold"/>
                  <a:sym typeface="둥근펜 Bold"/>
                </a:rPr>
                <a:t>결과</a:t>
              </a:r>
              <a:endParaRPr lang="en-US" sz="2175" b="1" spc="26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endParaRPr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AF0313D7-1950-44EC-AC4B-AF68C1127C21}"/>
                </a:ext>
              </a:extLst>
            </p:cNvPr>
            <p:cNvSpPr/>
            <p:nvPr/>
          </p:nvSpPr>
          <p:spPr>
            <a:xfrm>
              <a:off x="1672353" y="5632357"/>
              <a:ext cx="128241" cy="97784"/>
            </a:xfrm>
            <a:custGeom>
              <a:avLst/>
              <a:gdLst/>
              <a:ahLst/>
              <a:cxnLst/>
              <a:rect l="l" t="t" r="r" b="b"/>
              <a:pathLst>
                <a:path w="170988" h="130378">
                  <a:moveTo>
                    <a:pt x="0" y="0"/>
                  </a:moveTo>
                  <a:lnTo>
                    <a:pt x="170988" y="0"/>
                  </a:lnTo>
                  <a:lnTo>
                    <a:pt x="170988" y="130379"/>
                  </a:lnTo>
                  <a:lnTo>
                    <a:pt x="0" y="130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71122CA-E02E-44CB-BCBC-C0D3B252C31F}"/>
                </a:ext>
              </a:extLst>
            </p:cNvPr>
            <p:cNvSpPr txBox="1"/>
            <p:nvPr/>
          </p:nvSpPr>
          <p:spPr>
            <a:xfrm>
              <a:off x="3030684" y="5508201"/>
              <a:ext cx="866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하드웨어가 확실히 명령을 받을 상태가 된 후 다음 동작 실행</a:t>
              </a:r>
            </a:p>
          </p:txBody>
        </p:sp>
      </p:grpSp>
      <p:sp>
        <p:nvSpPr>
          <p:cNvPr id="38" name="TextBox 21">
            <a:extLst>
              <a:ext uri="{FF2B5EF4-FFF2-40B4-BE49-F238E27FC236}">
                <a16:creationId xmlns:a16="http://schemas.microsoft.com/office/drawing/2014/main" id="{86C425AA-053C-4898-A5F7-0BD05AAB54C0}"/>
              </a:ext>
            </a:extLst>
          </p:cNvPr>
          <p:cNvSpPr txBox="1"/>
          <p:nvPr/>
        </p:nvSpPr>
        <p:spPr>
          <a:xfrm rot="-18144">
            <a:off x="1122912" y="2380911"/>
            <a:ext cx="15009626" cy="503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3"/>
              </a:lnSpc>
            </a:pPr>
            <a:r>
              <a:rPr lang="en-US" altLang="ko-KR" sz="3400" b="1" spc="-59" dirty="0">
                <a:solidFill>
                  <a:srgbClr val="4D4D4D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sym typeface="둥근펜 Bold"/>
              </a:rPr>
              <a:t>ZP </a:t>
            </a:r>
            <a:r>
              <a:rPr lang="ko-KR" altLang="en-US" sz="3400" b="1" spc="-59" dirty="0">
                <a:solidFill>
                  <a:srgbClr val="4D4D4D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sym typeface="둥근펜 Bold"/>
              </a:rPr>
              <a:t>함수 호출 시 타이밍 문제로 발생한 </a:t>
            </a:r>
            <a:r>
              <a:rPr lang="ko-KR" altLang="en-US" sz="3400" b="1" spc="-59" dirty="0" err="1">
                <a:solidFill>
                  <a:srgbClr val="4D4D4D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sym typeface="둥근펜 Bold"/>
              </a:rPr>
              <a:t>서보</a:t>
            </a:r>
            <a:r>
              <a:rPr lang="ko-KR" altLang="en-US" sz="3400" b="1" spc="-59" dirty="0">
                <a:solidFill>
                  <a:srgbClr val="4D4D4D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sym typeface="둥근펜 Bold"/>
              </a:rPr>
              <a:t> 기동 불량</a:t>
            </a:r>
            <a:endParaRPr lang="en-US" sz="3400" b="1" spc="-59" dirty="0">
              <a:solidFill>
                <a:srgbClr val="4D4D4D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  <a:sym typeface="둥근펜 Bold"/>
            </a:endParaRPr>
          </a:p>
        </p:txBody>
      </p:sp>
    </p:spTree>
    <p:extLst>
      <p:ext uri="{BB962C8B-B14F-4D97-AF65-F5344CB8AC3E}">
        <p14:creationId xmlns:p14="http://schemas.microsoft.com/office/powerpoint/2010/main" val="3518823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52C896-76C8-46F5-B989-BB5FB412104C}"/>
              </a:ext>
            </a:extLst>
          </p:cNvPr>
          <p:cNvSpPr/>
          <p:nvPr/>
        </p:nvSpPr>
        <p:spPr>
          <a:xfrm>
            <a:off x="533401" y="471948"/>
            <a:ext cx="12725400" cy="9243552"/>
          </a:xfrm>
          <a:prstGeom prst="rect">
            <a:avLst/>
          </a:prstGeom>
          <a:solidFill>
            <a:srgbClr val="FDFDFD"/>
          </a:solidFill>
          <a:ln>
            <a:solidFill>
              <a:schemeClr val="bg1"/>
            </a:solidFill>
          </a:ln>
          <a:effectLst>
            <a:outerShdw blurRad="114300" dist="241300" dir="2700000" algn="tl" rotWithShape="0">
              <a:schemeClr val="bg2">
                <a:lumMod val="2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124406" y="2189096"/>
            <a:ext cx="12561309" cy="6651709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0" name="TextBox 10"/>
          <p:cNvSpPr txBox="1"/>
          <p:nvPr/>
        </p:nvSpPr>
        <p:spPr>
          <a:xfrm>
            <a:off x="0" y="848287"/>
            <a:ext cx="13716000" cy="9062237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ctr">
              <a:lnSpc>
                <a:spcPts val="1994"/>
              </a:lnSpc>
              <a:spcBef>
                <a:spcPct val="0"/>
              </a:spcBef>
            </a:pPr>
            <a:endParaRPr sz="1350"/>
          </a:p>
        </p:txBody>
      </p:sp>
      <p:sp>
        <p:nvSpPr>
          <p:cNvPr id="16" name="Freeform 16"/>
          <p:cNvSpPr/>
          <p:nvPr/>
        </p:nvSpPr>
        <p:spPr>
          <a:xfrm>
            <a:off x="12115800" y="310111"/>
            <a:ext cx="673550" cy="1032261"/>
          </a:xfrm>
          <a:custGeom>
            <a:avLst/>
            <a:gdLst/>
            <a:ahLst/>
            <a:cxnLst/>
            <a:rect l="l" t="t" r="r" b="b"/>
            <a:pathLst>
              <a:path w="898067" h="1376348">
                <a:moveTo>
                  <a:pt x="0" y="0"/>
                </a:moveTo>
                <a:lnTo>
                  <a:pt x="898068" y="0"/>
                </a:lnTo>
                <a:lnTo>
                  <a:pt x="898068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Box 19"/>
          <p:cNvSpPr txBox="1"/>
          <p:nvPr/>
        </p:nvSpPr>
        <p:spPr>
          <a:xfrm rot="-18144">
            <a:off x="4159370" y="4457019"/>
            <a:ext cx="5473460" cy="1109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64"/>
              </a:lnSpc>
              <a:spcBef>
                <a:spcPct val="0"/>
              </a:spcBef>
            </a:pPr>
            <a:r>
              <a:rPr lang="ko-KR" altLang="en-US" sz="8102" b="1" spc="-178" dirty="0">
                <a:solidFill>
                  <a:srgbClr val="4D4D4D"/>
                </a:solidFill>
                <a:latin typeface="둥근펜 Bold"/>
                <a:ea typeface="둥근펜 Bold"/>
                <a:cs typeface="둥근펜 Bold"/>
                <a:sym typeface="둥근펜 Bold"/>
              </a:rPr>
              <a:t>감사합니다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0220" y="8460013"/>
            <a:ext cx="1714199" cy="19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0"/>
              </a:lnSpc>
            </a:pPr>
            <a:r>
              <a:rPr lang="en-US" sz="1275" b="1" spc="-7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라라나 마케팅팀 이수진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29465" y="8525928"/>
            <a:ext cx="2166316" cy="125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90"/>
              </a:lnSpc>
            </a:pPr>
            <a:r>
              <a:rPr lang="en-US" sz="1073" b="1" spc="18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hello@reallygreatsite.com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2782BF7-0B36-4EAC-B3F2-5D46DF6E7269}"/>
              </a:ext>
            </a:extLst>
          </p:cNvPr>
          <p:cNvGrpSpPr/>
          <p:nvPr/>
        </p:nvGrpSpPr>
        <p:grpSpPr>
          <a:xfrm>
            <a:off x="3198728" y="6042524"/>
            <a:ext cx="6436995" cy="472440"/>
            <a:chOff x="6743700" y="10896603"/>
            <a:chExt cx="8582660" cy="629920"/>
          </a:xfrm>
        </p:grpSpPr>
        <p:pic>
          <p:nvPicPr>
            <p:cNvPr id="26" name="Picture 6">
              <a:extLst>
                <a:ext uri="{FF2B5EF4-FFF2-40B4-BE49-F238E27FC236}">
                  <a16:creationId xmlns:a16="http://schemas.microsoft.com/office/drawing/2014/main" id="{44D031F9-E120-4B8A-8109-FC53B561D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4000" y="10907268"/>
              <a:ext cx="6019800" cy="614172"/>
            </a:xfrm>
            <a:prstGeom prst="rect">
              <a:avLst/>
            </a:prstGeom>
          </p:spPr>
        </p:pic>
        <p:pic>
          <p:nvPicPr>
            <p:cNvPr id="27" name="Picture 7">
              <a:extLst>
                <a:ext uri="{FF2B5EF4-FFF2-40B4-BE49-F238E27FC236}">
                  <a16:creationId xmlns:a16="http://schemas.microsoft.com/office/drawing/2014/main" id="{F2203FF7-011E-4B16-A01A-653BCF545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8995"/>
                      </a14:imgEffect>
                      <a14:imgEffect>
                        <a14:saturation sat="137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696200" y="10896603"/>
              <a:ext cx="1981200" cy="629920"/>
            </a:xfrm>
            <a:prstGeom prst="rect">
              <a:avLst/>
            </a:prstGeom>
          </p:spPr>
        </p:pic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62890C0E-C0B5-4A65-BA84-79E754092114}"/>
                </a:ext>
              </a:extLst>
            </p:cNvPr>
            <p:cNvSpPr txBox="1"/>
            <p:nvPr/>
          </p:nvSpPr>
          <p:spPr>
            <a:xfrm>
              <a:off x="6743700" y="10948879"/>
              <a:ext cx="3886200" cy="546100"/>
            </a:xfrm>
            <a:prstGeom prst="rect">
              <a:avLst/>
            </a:prstGeom>
          </p:spPr>
          <p:txBody>
            <a:bodyPr lIns="0" tIns="29118" rIns="0" bIns="29118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293" b="1" spc="-75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THELuxGoB"/>
                </a:rPr>
                <a:t>최준호</a:t>
              </a:r>
              <a:endParaRPr lang="en-US" sz="2293" b="1" spc="-75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HELuxGoB"/>
              </a:endParaRPr>
            </a:p>
          </p:txBody>
        </p:sp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F05FAA3F-2B28-46D3-ACEF-3CC867C3EBB8}"/>
                </a:ext>
              </a:extLst>
            </p:cNvPr>
            <p:cNvSpPr txBox="1"/>
            <p:nvPr/>
          </p:nvSpPr>
          <p:spPr>
            <a:xfrm>
              <a:off x="9829800" y="10907268"/>
              <a:ext cx="5496560" cy="546100"/>
            </a:xfrm>
            <a:prstGeom prst="rect">
              <a:avLst/>
            </a:prstGeom>
          </p:spPr>
          <p:txBody>
            <a:bodyPr lIns="0" tIns="29118" rIns="0" bIns="29118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-US" sz="2293" spc="-75" dirty="0">
                  <a:solidFill>
                    <a:srgbClr val="595959"/>
                  </a:solidFill>
                  <a:latin typeface="Segoe UI Semilight" panose="020B0402040204020203" pitchFamily="34" charset="0"/>
                  <a:ea typeface="맑은 고딕" panose="020B0503020000020004" pitchFamily="50" charset="-127"/>
                  <a:cs typeface="Segoe UI Semilight" panose="020B0402040204020203" pitchFamily="34" charset="0"/>
                </a:rPr>
                <a:t>gammastellapasta@gmail.com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1434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667</Words>
  <Application>Microsoft Office PowerPoint</Application>
  <PresentationFormat>사용자 지정</PresentationFormat>
  <Paragraphs>148</Paragraphs>
  <Slides>17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32" baseType="lpstr">
      <vt:lpstr>함초롬돋움</vt:lpstr>
      <vt:lpstr>THELuxGoB</vt:lpstr>
      <vt:lpstr>둥근펜 Bold</vt:lpstr>
      <vt:lpstr>한컴산뜻돋움</vt:lpstr>
      <vt:lpstr>Poppins Medium</vt:lpstr>
      <vt:lpstr>맑은 고딕</vt:lpstr>
      <vt:lpstr>Poppins Semi-Bold</vt:lpstr>
      <vt:lpstr>Calibri</vt:lpstr>
      <vt:lpstr>Poppins Bold</vt:lpstr>
      <vt:lpstr>Segoe UI Semibold</vt:lpstr>
      <vt:lpstr>JASO Sans</vt:lpstr>
      <vt:lpstr>JASO Sans Bold</vt:lpstr>
      <vt:lpstr>Arial</vt:lpstr>
      <vt:lpstr>Segoe UI Semilight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39</cp:revision>
  <dcterms:created xsi:type="dcterms:W3CDTF">2006-08-16T00:00:00Z</dcterms:created>
  <dcterms:modified xsi:type="dcterms:W3CDTF">2026-02-09T01:12:56Z</dcterms:modified>
  <dc:identifier>DAHAthvApEw</dc:identifier>
</cp:coreProperties>
</file>